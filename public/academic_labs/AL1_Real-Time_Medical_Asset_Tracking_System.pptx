
<file path=[Content_Types].xml><?xml version="1.0" encoding="utf-8"?>
<Types xmlns="http://schemas.openxmlformats.org/package/2006/content-types">
  <Default Extension="emf" ContentType="image/x-emf"/>
  <Default Extension="jpeg" ContentType="image/jpeg"/>
  <Default Extension="jp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sldIdLst>
    <p:sldId id="262" r:id="rId5"/>
    <p:sldId id="269" r:id="rId6"/>
    <p:sldId id="306" r:id="rId7"/>
    <p:sldId id="307" r:id="rId8"/>
    <p:sldId id="270" r:id="rId9"/>
    <p:sldId id="271" r:id="rId10"/>
    <p:sldId id="272" r:id="rId11"/>
    <p:sldId id="277" r:id="rId12"/>
    <p:sldId id="308" r:id="rId13"/>
    <p:sldId id="283" r:id="rId14"/>
    <p:sldId id="279" r:id="rId15"/>
    <p:sldId id="316" r:id="rId16"/>
    <p:sldId id="278" r:id="rId17"/>
    <p:sldId id="282" r:id="rId18"/>
    <p:sldId id="310" r:id="rId19"/>
    <p:sldId id="287" r:id="rId20"/>
    <p:sldId id="299" r:id="rId21"/>
    <p:sldId id="288" r:id="rId22"/>
    <p:sldId id="301" r:id="rId23"/>
    <p:sldId id="302" r:id="rId24"/>
    <p:sldId id="289" r:id="rId25"/>
    <p:sldId id="303" r:id="rId26"/>
    <p:sldId id="292" r:id="rId27"/>
    <p:sldId id="311" r:id="rId28"/>
    <p:sldId id="312" r:id="rId29"/>
    <p:sldId id="313" r:id="rId30"/>
    <p:sldId id="27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040812"/>
    <a:srgbClr val="009999"/>
    <a:srgbClr val="AFFFFF"/>
    <a:srgbClr val="79DCFF"/>
    <a:srgbClr val="F7D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3" autoAdjust="0"/>
    <p:restoredTop sz="94660"/>
  </p:normalViewPr>
  <p:slideViewPr>
    <p:cSldViewPr snapToGrid="0">
      <p:cViewPr varScale="1">
        <p:scale>
          <a:sx n="82" d="100"/>
          <a:sy n="82" d="100"/>
        </p:scale>
        <p:origin x="48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ker, Russ" userId="25197bd6-c104-41e2-9e62-f766f04e92ac" providerId="ADAL" clId="{FC17173D-FB9E-41AD-B37C-1F82E22AC93C}"/>
    <pc:docChg chg="modSld">
      <pc:chgData name="Walker, Russ" userId="25197bd6-c104-41e2-9e62-f766f04e92ac" providerId="ADAL" clId="{FC17173D-FB9E-41AD-B37C-1F82E22AC93C}" dt="2020-12-11T00:34:01.669" v="13" actId="20577"/>
      <pc:docMkLst>
        <pc:docMk/>
      </pc:docMkLst>
      <pc:sldChg chg="modSp">
        <pc:chgData name="Walker, Russ" userId="25197bd6-c104-41e2-9e62-f766f04e92ac" providerId="ADAL" clId="{FC17173D-FB9E-41AD-B37C-1F82E22AC93C}" dt="2020-12-11T00:34:01.669" v="13" actId="20577"/>
        <pc:sldMkLst>
          <pc:docMk/>
          <pc:sldMk cId="3098229158" sldId="259"/>
        </pc:sldMkLst>
        <pc:spChg chg="mod">
          <ac:chgData name="Walker, Russ" userId="25197bd6-c104-41e2-9e62-f766f04e92ac" providerId="ADAL" clId="{FC17173D-FB9E-41AD-B37C-1F82E22AC93C}" dt="2020-12-11T00:34:01.669" v="13" actId="20577"/>
          <ac:spMkLst>
            <pc:docMk/>
            <pc:sldMk cId="3098229158" sldId="259"/>
            <ac:spMk id="2" creationId="{69FD8634-5079-4E93-8FBB-81A952148E8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8401" y="4145282"/>
            <a:ext cx="4687338"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8" y="6057150"/>
            <a:ext cx="5500158"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dirty="0"/>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dirty="0"/>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dirty="0"/>
            </a:p>
          </p:txBody>
        </p:sp>
      </p:grpSp>
      <p:sp>
        <p:nvSpPr>
          <p:cNvPr id="2" name="Title 1"/>
          <p:cNvSpPr>
            <a:spLocks noGrp="1"/>
          </p:cNvSpPr>
          <p:nvPr>
            <p:ph type="ctrTitle"/>
          </p:nvPr>
        </p:nvSpPr>
        <p:spPr>
          <a:xfrm>
            <a:off x="1625600" y="584201"/>
            <a:ext cx="8737600"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600" y="2616200"/>
            <a:ext cx="8737600"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10/11/2026</a:t>
            </a:fld>
            <a:endParaRPr dirty="0"/>
          </a:p>
        </p:txBody>
      </p:sp>
      <p:sp>
        <p:nvSpPr>
          <p:cNvPr id="23" name="Footer Placeholder 22"/>
          <p:cNvSpPr>
            <a:spLocks noGrp="1"/>
          </p:cNvSpPr>
          <p:nvPr>
            <p:ph type="ftr" sz="quarter" idx="11"/>
          </p:nvPr>
        </p:nvSpPr>
        <p:spPr/>
        <p:txBody>
          <a:bodyPr/>
          <a:lstStyle/>
          <a:p>
            <a:endParaRPr dirty="0"/>
          </a:p>
        </p:txBody>
      </p:sp>
      <p:sp>
        <p:nvSpPr>
          <p:cNvPr id="24" name="Slide Number Placeholder 2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4106912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10/11/2026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55983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8401" y="4145282"/>
            <a:ext cx="4687338"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601" y="2209802"/>
            <a:ext cx="8940800"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600" y="4951267"/>
            <a:ext cx="7071361"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10/11/2026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5026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9201" y="1706880"/>
            <a:ext cx="5080000"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2401" y="1706880"/>
            <a:ext cx="5080000"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10/11/2026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967945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9200" y="1701800"/>
            <a:ext cx="5084064"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9201" y="2717800"/>
            <a:ext cx="5080000"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8336" y="1701800"/>
            <a:ext cx="5084064"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2401" y="2717800"/>
            <a:ext cx="5080000"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10/11/2026</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09813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10/11/2026</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83226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10/11/2026</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2196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1701800"/>
            <a:ext cx="4064000"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9200" y="4241800"/>
            <a:ext cx="4064000"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6400" y="584200"/>
            <a:ext cx="6096001"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10/11/2026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94635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1701800"/>
            <a:ext cx="4064000"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9200" y="4241800"/>
            <a:ext cx="4064000"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6400" y="584200"/>
            <a:ext cx="6096001"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F0DFD029-FB74-4578-B929-F66AA97659CA}" type="datetimeFigureOut">
              <a:rPr lang="en-US"/>
              <a:t>10/11/2026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1916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10/11/2026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99022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84200"/>
            <a:ext cx="2743200"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9200" y="584200"/>
            <a:ext cx="7416800"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10/11/2026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382074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4" y="-3174"/>
            <a:ext cx="820207"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p>
          </p:txBody>
        </p:sp>
      </p:grpSp>
      <p:sp>
        <p:nvSpPr>
          <p:cNvPr id="2" name="Title Placeholder 1"/>
          <p:cNvSpPr>
            <a:spLocks noGrp="1"/>
          </p:cNvSpPr>
          <p:nvPr>
            <p:ph type="title"/>
          </p:nvPr>
        </p:nvSpPr>
        <p:spPr>
          <a:xfrm>
            <a:off x="1219201" y="274637"/>
            <a:ext cx="10363200"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9201" y="1701797"/>
            <a:ext cx="10363200"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9200" y="6356353"/>
            <a:ext cx="2235200"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10/11/2026</a:t>
            </a:fld>
            <a:endParaRPr dirty="0"/>
          </a:p>
        </p:txBody>
      </p:sp>
      <p:sp>
        <p:nvSpPr>
          <p:cNvPr id="5" name="Footer Placeholder 4"/>
          <p:cNvSpPr>
            <a:spLocks noGrp="1"/>
          </p:cNvSpPr>
          <p:nvPr>
            <p:ph type="ftr" sz="quarter" idx="3"/>
          </p:nvPr>
        </p:nvSpPr>
        <p:spPr>
          <a:xfrm>
            <a:off x="3454401" y="6356353"/>
            <a:ext cx="5283200"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dirty="0"/>
          </a:p>
        </p:txBody>
      </p:sp>
      <p:sp>
        <p:nvSpPr>
          <p:cNvPr id="6" name="Slide Number Placeholder 5"/>
          <p:cNvSpPr>
            <a:spLocks noGrp="1"/>
          </p:cNvSpPr>
          <p:nvPr>
            <p:ph type="sldNum" sz="quarter" idx="4"/>
          </p:nvPr>
        </p:nvSpPr>
        <p:spPr>
          <a:xfrm>
            <a:off x="10566401" y="6356353"/>
            <a:ext cx="1016000"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dirty="0"/>
          </a:p>
        </p:txBody>
      </p:sp>
    </p:spTree>
    <p:extLst>
      <p:ext uri="{BB962C8B-B14F-4D97-AF65-F5344CB8AC3E}">
        <p14:creationId xmlns:p14="http://schemas.microsoft.com/office/powerpoint/2010/main" val="3926747755"/>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1.m4a"/><Relationship Id="rId1" Type="http://schemas.microsoft.com/office/2007/relationships/media" Target="../media/media11.m4a"/><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3.m4a"/><Relationship Id="rId1" Type="http://schemas.microsoft.com/office/2007/relationships/media" Target="../media/media13.m4a"/><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image" Target="../media/image6.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5.m4a"/><Relationship Id="rId1" Type="http://schemas.microsoft.com/office/2007/relationships/media" Target="../media/media15.m4a"/><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6.xml"/><Relationship Id="rId7" Type="http://schemas.openxmlformats.org/officeDocument/2006/relationships/image" Target="../media/image10.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png"/><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1.m4a"/><Relationship Id="rId1" Type="http://schemas.microsoft.com/office/2007/relationships/media" Target="../media/media21.m4a"/><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2.m4a"/><Relationship Id="rId1" Type="http://schemas.microsoft.com/office/2007/relationships/media" Target="../media/media22.m4a"/><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3.m4a"/><Relationship Id="rId1" Type="http://schemas.microsoft.com/office/2007/relationships/media" Target="../media/media23.m4a"/><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4.m4a"/><Relationship Id="rId1" Type="http://schemas.microsoft.com/office/2007/relationships/media" Target="../media/media24.m4a"/><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5.m4a"/><Relationship Id="rId1" Type="http://schemas.microsoft.com/office/2007/relationships/media" Target="../media/media25.m4a"/><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26.m4a"/><Relationship Id="rId1" Type="http://schemas.microsoft.com/office/2007/relationships/media" Target="../media/media26.m4a"/><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8" Type="http://schemas.openxmlformats.org/officeDocument/2006/relationships/hyperlink" Target="https://www.purple.ai/en-us/blogs/healthcare-rtls-101" TargetMode="External"/><Relationship Id="rId3" Type="http://schemas.openxmlformats.org/officeDocument/2006/relationships/slideLayout" Target="../slideLayouts/slideLayout4.xml"/><Relationship Id="rId7" Type="http://schemas.openxmlformats.org/officeDocument/2006/relationships/hyperlink" Target="https://www.link-labs.com/blog/rfid-cost" TargetMode="Externa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hyperlink" Target="https://cpcongroup.com/insights/article/rfid-what-it-is-how-it-works/" TargetMode="External"/><Relationship Id="rId5" Type="http://schemas.openxmlformats.org/officeDocument/2006/relationships/hyperlink" Target="https://www.airistaflow.com/blog/rfid-asset-tracking-in-healthcare/" TargetMode="External"/><Relationship Id="rId10" Type="http://schemas.openxmlformats.org/officeDocument/2006/relationships/image" Target="../media/image1.png"/><Relationship Id="rId4" Type="http://schemas.openxmlformats.org/officeDocument/2006/relationships/hyperlink" Target="https://www.altus-inc.com/insight/blog/how-rfid-location-tracking-can-help-prevent-equipment-loss" TargetMode="External"/><Relationship Id="rId9" Type="http://schemas.openxmlformats.org/officeDocument/2006/relationships/hyperlink" Target="https://journals.sagepub.com/doi/full/10.1177/237796082513282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600" y="2225740"/>
            <a:ext cx="8737600" cy="1063562"/>
          </a:xfrm>
        </p:spPr>
        <p:txBody>
          <a:bodyPr>
            <a:noAutofit/>
          </a:bodyPr>
          <a:lstStyle/>
          <a:p>
            <a:pPr algn="ctr"/>
            <a:r>
              <a:rPr lang="en-US" sz="7000" dirty="0"/>
              <a:t>Real-Time Medical Asset Tracking System</a:t>
            </a:r>
          </a:p>
        </p:txBody>
      </p:sp>
      <p:sp>
        <p:nvSpPr>
          <p:cNvPr id="5" name="Subtitle 4"/>
          <p:cNvSpPr>
            <a:spLocks noGrp="1"/>
          </p:cNvSpPr>
          <p:nvPr>
            <p:ph type="subTitle" idx="1"/>
          </p:nvPr>
        </p:nvSpPr>
        <p:spPr>
          <a:xfrm>
            <a:off x="1625600" y="3426180"/>
            <a:ext cx="8737600" cy="546878"/>
          </a:xfrm>
        </p:spPr>
        <p:txBody>
          <a:bodyPr>
            <a:noAutofit/>
          </a:bodyPr>
          <a:lstStyle/>
          <a:p>
            <a:pPr algn="ctr"/>
            <a:r>
              <a:rPr lang="en-US" sz="3000" cap="none" dirty="0">
                <a:solidFill>
                  <a:srgbClr val="00B0F0"/>
                </a:solidFill>
              </a:rPr>
              <a:t>Francisco Acosta</a:t>
            </a:r>
          </a:p>
        </p:txBody>
      </p:sp>
      <p:sp>
        <p:nvSpPr>
          <p:cNvPr id="3" name="Subtitle 4">
            <a:extLst>
              <a:ext uri="{FF2B5EF4-FFF2-40B4-BE49-F238E27FC236}">
                <a16:creationId xmlns:a16="http://schemas.microsoft.com/office/drawing/2014/main" id="{4CE5AB70-E6E3-3E15-517B-880E12162A5D}"/>
              </a:ext>
            </a:extLst>
          </p:cNvPr>
          <p:cNvSpPr txBox="1">
            <a:spLocks/>
          </p:cNvSpPr>
          <p:nvPr/>
        </p:nvSpPr>
        <p:spPr>
          <a:xfrm>
            <a:off x="1625600" y="4285225"/>
            <a:ext cx="8737600" cy="546878"/>
          </a:xfrm>
          <a:prstGeom prst="rect">
            <a:avLst/>
          </a:prstGeom>
        </p:spPr>
        <p:txBody>
          <a:bodyPr vert="horz" lIns="121899" tIns="60949" rIns="121899" bIns="60949" rtlCol="0">
            <a:normAutofit/>
          </a:bodyPr>
          <a:lstStyle>
            <a:lvl1pPr marL="0" indent="0" algn="l" defTabSz="1218987" rtl="0" eaLnBrk="1" latinLnBrk="0" hangingPunct="1">
              <a:lnSpc>
                <a:spcPct val="90000"/>
              </a:lnSpc>
              <a:spcBef>
                <a:spcPts val="0"/>
              </a:spcBef>
              <a:buClr>
                <a:schemeClr val="accent1"/>
              </a:buClr>
              <a:buSzPct val="100000"/>
              <a:buFont typeface="Arial" pitchFamily="34" charset="0"/>
              <a:buNone/>
              <a:defRPr sz="2800" kern="1200" cap="all" spc="200" baseline="0">
                <a:solidFill>
                  <a:schemeClr val="accent1"/>
                </a:solidFill>
                <a:latin typeface="+mn-lt"/>
                <a:ea typeface="+mn-ea"/>
                <a:cs typeface="+mn-cs"/>
              </a:defRPr>
            </a:lvl1pPr>
            <a:lvl2pPr marL="609493" indent="0" algn="ctr" defTabSz="1218987" rtl="0" eaLnBrk="1" latinLnBrk="0" hangingPunct="1">
              <a:lnSpc>
                <a:spcPct val="90000"/>
              </a:lnSpc>
              <a:spcBef>
                <a:spcPts val="800"/>
              </a:spcBef>
              <a:buClr>
                <a:schemeClr val="accent1"/>
              </a:buClr>
              <a:buSzPct val="80000"/>
              <a:buFont typeface="Arial" pitchFamily="34" charset="0"/>
              <a:buNone/>
              <a:defRPr sz="2400" kern="1200">
                <a:solidFill>
                  <a:schemeClr val="tx1">
                    <a:tint val="75000"/>
                  </a:schemeClr>
                </a:solidFill>
                <a:latin typeface="+mn-lt"/>
                <a:ea typeface="+mn-ea"/>
                <a:cs typeface="+mn-cs"/>
              </a:defRPr>
            </a:lvl2pPr>
            <a:lvl3pPr marL="1218987"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3pPr>
            <a:lvl4pPr marL="1828480"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4pPr>
            <a:lvl5pPr marL="2437973"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5pPr>
            <a:lvl6pPr marL="3047467"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6pPr>
            <a:lvl7pPr marL="3656960"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7pPr>
            <a:lvl8pPr marL="4266453" indent="0" algn="ctr" defTabSz="1218987" rtl="0" eaLnBrk="1" latinLnBrk="0" hangingPunct="1">
              <a:lnSpc>
                <a:spcPct val="90000"/>
              </a:lnSpc>
              <a:spcBef>
                <a:spcPts val="800"/>
              </a:spcBef>
              <a:buClr>
                <a:schemeClr val="accent1"/>
              </a:buClr>
              <a:buSzPct val="80000"/>
              <a:buFont typeface="Arial" pitchFamily="34" charset="0"/>
              <a:buNone/>
              <a:defRPr sz="2000" kern="1200" baseline="0">
                <a:solidFill>
                  <a:schemeClr val="tx1">
                    <a:tint val="75000"/>
                  </a:schemeClr>
                </a:solidFill>
                <a:latin typeface="+mn-lt"/>
                <a:ea typeface="+mn-ea"/>
                <a:cs typeface="+mn-cs"/>
              </a:defRPr>
            </a:lvl8pPr>
            <a:lvl9pPr marL="4875947" indent="0" algn="ctr" defTabSz="1218987" rtl="0" eaLnBrk="1" latinLnBrk="0" hangingPunct="1">
              <a:lnSpc>
                <a:spcPct val="90000"/>
              </a:lnSpc>
              <a:spcBef>
                <a:spcPts val="800"/>
              </a:spcBef>
              <a:buClr>
                <a:schemeClr val="accent1"/>
              </a:buClr>
              <a:buSzPct val="80000"/>
              <a:buFont typeface="Arial" pitchFamily="34" charset="0"/>
              <a:buNone/>
              <a:defRPr sz="2000" kern="1200" baseline="0">
                <a:solidFill>
                  <a:schemeClr val="tx1">
                    <a:tint val="75000"/>
                  </a:schemeClr>
                </a:solidFill>
                <a:latin typeface="+mn-lt"/>
                <a:ea typeface="+mn-ea"/>
                <a:cs typeface="+mn-cs"/>
              </a:defRPr>
            </a:lvl9pPr>
          </a:lstStyle>
          <a:p>
            <a:pPr algn="ctr"/>
            <a:r>
              <a:rPr lang="en-US" sz="2000" cap="none" dirty="0">
                <a:solidFill>
                  <a:schemeClr val="tx1"/>
                </a:solidFill>
                <a:latin typeface="+mj-lt"/>
              </a:rPr>
              <a:t>TECH460</a:t>
            </a:r>
            <a:r>
              <a:rPr lang="en-US" sz="2000" cap="none" dirty="0">
                <a:solidFill>
                  <a:schemeClr val="tx1"/>
                </a:solidFill>
              </a:rPr>
              <a:t>     |     Fall Semester     |     </a:t>
            </a:r>
            <a:r>
              <a:rPr lang="en-US" sz="2000" cap="none" dirty="0">
                <a:solidFill>
                  <a:schemeClr val="tx1"/>
                </a:solidFill>
                <a:latin typeface="+mj-lt"/>
              </a:rPr>
              <a:t>October 11, 2026</a:t>
            </a:r>
          </a:p>
        </p:txBody>
      </p:sp>
      <p:pic>
        <p:nvPicPr>
          <p:cNvPr id="4" name="Slide 1">
            <a:hlinkClick r:id="" action="ppaction://media"/>
            <a:extLst>
              <a:ext uri="{FF2B5EF4-FFF2-40B4-BE49-F238E27FC236}">
                <a16:creationId xmlns:a16="http://schemas.microsoft.com/office/drawing/2014/main" id="{D00FC433-12D5-0028-DAC8-EA35CDF90E6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48530" y="153466"/>
            <a:ext cx="487363" cy="487363"/>
          </a:xfrm>
          <a:prstGeom prst="rect">
            <a:avLst/>
          </a:prstGeom>
        </p:spPr>
      </p:pic>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advTm="14135">
        <p:fade/>
      </p:transition>
    </mc:Choice>
    <mc:Fallback xmlns="">
      <p:transition spd="med" advTm="1413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13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1399B7-A5E4-5C3A-C777-EF1A5ED668B4}"/>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7" name="Title 2">
            <a:extLst>
              <a:ext uri="{FF2B5EF4-FFF2-40B4-BE49-F238E27FC236}">
                <a16:creationId xmlns:a16="http://schemas.microsoft.com/office/drawing/2014/main" id="{001B2D90-A0C8-3A49-78CD-683BF7C99997}"/>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Introduction</a:t>
            </a:r>
          </a:p>
        </p:txBody>
      </p:sp>
      <p:sp>
        <p:nvSpPr>
          <p:cNvPr id="4" name="TextBox 3">
            <a:extLst>
              <a:ext uri="{FF2B5EF4-FFF2-40B4-BE49-F238E27FC236}">
                <a16:creationId xmlns:a16="http://schemas.microsoft.com/office/drawing/2014/main" id="{736AF858-BF0A-9A6C-36B4-B0CAC74CEFC6}"/>
              </a:ext>
            </a:extLst>
          </p:cNvPr>
          <p:cNvSpPr txBox="1"/>
          <p:nvPr/>
        </p:nvSpPr>
        <p:spPr>
          <a:xfrm>
            <a:off x="990601" y="1264500"/>
            <a:ext cx="10363200" cy="5093702"/>
          </a:xfrm>
          <a:prstGeom prst="rect">
            <a:avLst/>
          </a:prstGeom>
          <a:noFill/>
        </p:spPr>
        <p:txBody>
          <a:bodyPr wrap="square" rtlCol="0">
            <a:spAutoFit/>
          </a:bodyPr>
          <a:lstStyle/>
          <a:p>
            <a:pPr>
              <a:spcBef>
                <a:spcPts val="300"/>
              </a:spcBef>
              <a:spcAft>
                <a:spcPts val="1200"/>
              </a:spcAft>
            </a:pPr>
            <a:r>
              <a:rPr lang="en-US" sz="1900" dirty="0">
                <a:solidFill>
                  <a:srgbClr val="00B0F0"/>
                </a:solidFill>
              </a:rPr>
              <a:t>Organization</a:t>
            </a:r>
            <a:br>
              <a:rPr lang="en-US" sz="1900" dirty="0">
                <a:solidFill>
                  <a:srgbClr val="00B0F0"/>
                </a:solidFill>
              </a:rPr>
            </a:br>
            <a:r>
              <a:rPr lang="en-US" sz="1900" dirty="0"/>
              <a:t>Cook Children’s Health Care System is a leading pediatric health network delivering complex, high-demand patient care across multiple clinical facilities.</a:t>
            </a:r>
          </a:p>
          <a:p>
            <a:pPr>
              <a:spcAft>
                <a:spcPts val="1200"/>
              </a:spcAft>
            </a:pPr>
            <a:r>
              <a:rPr lang="en-US" sz="1900" dirty="0">
                <a:solidFill>
                  <a:srgbClr val="00B0F0"/>
                </a:solidFill>
              </a:rPr>
              <a:t>Challenge</a:t>
            </a:r>
            <a:br>
              <a:rPr lang="en-US" sz="1900" dirty="0">
                <a:solidFill>
                  <a:srgbClr val="00B0F0"/>
                </a:solidFill>
              </a:rPr>
            </a:br>
            <a:r>
              <a:rPr lang="en-US" sz="1900" dirty="0"/>
              <a:t>Hospital Nurses spend up to 60 minutes per shift searching for mobile medical equipment, leading to clinical inefficiencies and increased hospital operational costs </a:t>
            </a:r>
            <a:r>
              <a:rPr lang="en-US" sz="2000" dirty="0">
                <a:solidFill>
                  <a:prstClr val="black">
                    <a:lumMod val="50000"/>
                    <a:lumOff val="50000"/>
                  </a:prstClr>
                </a:solidFill>
              </a:rPr>
              <a:t>(24x7, 2024)</a:t>
            </a:r>
            <a:r>
              <a:rPr lang="en-US" sz="1900" dirty="0"/>
              <a:t>.</a:t>
            </a:r>
          </a:p>
          <a:p>
            <a:pPr>
              <a:spcAft>
                <a:spcPts val="1200"/>
              </a:spcAft>
            </a:pPr>
            <a:r>
              <a:rPr lang="en-US" sz="1900" dirty="0">
                <a:solidFill>
                  <a:srgbClr val="00B0F0"/>
                </a:solidFill>
              </a:rPr>
              <a:t>Areas for Improvement</a:t>
            </a:r>
            <a:br>
              <a:rPr lang="en-US" sz="1900" dirty="0">
                <a:solidFill>
                  <a:srgbClr val="00B0F0"/>
                </a:solidFill>
              </a:rPr>
            </a:br>
            <a:r>
              <a:rPr lang="en-US" sz="1900" dirty="0"/>
              <a:t>Eliminating manual asset tracking, reducing equipment loss rates, and optimizing asset utilization efficiency.</a:t>
            </a:r>
          </a:p>
          <a:p>
            <a:pPr>
              <a:spcAft>
                <a:spcPts val="1200"/>
              </a:spcAft>
            </a:pPr>
            <a:r>
              <a:rPr lang="en-US" sz="1900" dirty="0">
                <a:solidFill>
                  <a:srgbClr val="00B0F0"/>
                </a:solidFill>
              </a:rPr>
              <a:t>Proposed Solution</a:t>
            </a:r>
            <a:br>
              <a:rPr lang="en-US" sz="1900" dirty="0">
                <a:solidFill>
                  <a:srgbClr val="00B0F0"/>
                </a:solidFill>
              </a:rPr>
            </a:br>
            <a:r>
              <a:rPr lang="en-US" sz="1900" dirty="0"/>
              <a:t>Implement an automated real-time medical asset tracking system powered by an Ultra-Wideband (UWB) IoT ecosystem to provide continuous, high-precision asset tracking.</a:t>
            </a:r>
          </a:p>
          <a:p>
            <a:pPr>
              <a:spcAft>
                <a:spcPts val="1200"/>
              </a:spcAft>
            </a:pPr>
            <a:r>
              <a:rPr lang="en-US" sz="1900" dirty="0">
                <a:solidFill>
                  <a:srgbClr val="00B0F0"/>
                </a:solidFill>
              </a:rPr>
              <a:t>Benefit</a:t>
            </a:r>
            <a:br>
              <a:rPr lang="en-US" sz="1900" dirty="0">
                <a:solidFill>
                  <a:srgbClr val="00B0F0"/>
                </a:solidFill>
              </a:rPr>
            </a:br>
            <a:r>
              <a:rPr lang="en-US" sz="1900" dirty="0"/>
              <a:t>Redirects up to 60 minutes of daily nurse search time back to bedside care while eliminating redundant equipment and labor expenses.</a:t>
            </a:r>
          </a:p>
        </p:txBody>
      </p:sp>
      <p:pic>
        <p:nvPicPr>
          <p:cNvPr id="3" name="Slide 2">
            <a:hlinkClick r:id="" action="ppaction://media"/>
            <a:extLst>
              <a:ext uri="{FF2B5EF4-FFF2-40B4-BE49-F238E27FC236}">
                <a16:creationId xmlns:a16="http://schemas.microsoft.com/office/drawing/2014/main" id="{CD695B79-6582-B524-FEF0-6E2AF639E07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advTm="35226">
        <p:fade/>
      </p:transition>
    </mc:Choice>
    <mc:Fallback xmlns="">
      <p:transition spd="med" advTm="3522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46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93AF7-04B1-1CF3-4BBC-A1A5D2F7A74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BAC6CF8-3F37-18AE-8F3C-1411C3C97DE8}"/>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7" name="Title 2">
            <a:extLst>
              <a:ext uri="{FF2B5EF4-FFF2-40B4-BE49-F238E27FC236}">
                <a16:creationId xmlns:a16="http://schemas.microsoft.com/office/drawing/2014/main" id="{54F91CF2-EC39-4BB2-A9A4-1B6C021EB115}"/>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Executive Summary</a:t>
            </a:r>
          </a:p>
        </p:txBody>
      </p:sp>
      <p:sp>
        <p:nvSpPr>
          <p:cNvPr id="4" name="TextBox 3">
            <a:extLst>
              <a:ext uri="{FF2B5EF4-FFF2-40B4-BE49-F238E27FC236}">
                <a16:creationId xmlns:a16="http://schemas.microsoft.com/office/drawing/2014/main" id="{CC62F423-0EAC-793E-4749-73090099F455}"/>
              </a:ext>
            </a:extLst>
          </p:cNvPr>
          <p:cNvSpPr txBox="1"/>
          <p:nvPr/>
        </p:nvSpPr>
        <p:spPr>
          <a:xfrm>
            <a:off x="990601" y="1413796"/>
            <a:ext cx="10220960" cy="4239622"/>
          </a:xfrm>
          <a:prstGeom prst="rect">
            <a:avLst/>
          </a:prstGeom>
          <a:noFill/>
        </p:spPr>
        <p:txBody>
          <a:bodyPr wrap="square" rtlCol="0">
            <a:spAutoFit/>
          </a:bodyPr>
          <a:lstStyle/>
          <a:p>
            <a:pPr>
              <a:spcAft>
                <a:spcPts val="600"/>
              </a:spcAft>
            </a:pPr>
            <a:r>
              <a:rPr lang="en-US" sz="2200" dirty="0"/>
              <a:t>In modern healthcare operations, rapid access to mobile medical equipment is essential for direct patient care and clinical efficiency. This project focuses on eliminating time nurses spend searching for equipment across hospital units at Cook Children’s by evaluating and implementing:</a:t>
            </a:r>
          </a:p>
          <a:p>
            <a:pPr>
              <a:spcBef>
                <a:spcPts val="300"/>
              </a:spcBef>
              <a:spcAft>
                <a:spcPts val="600"/>
              </a:spcAft>
            </a:pPr>
            <a:r>
              <a:rPr lang="en-US" sz="2200" dirty="0">
                <a:solidFill>
                  <a:srgbClr val="00B0F0"/>
                </a:solidFill>
              </a:rPr>
              <a:t>       • </a:t>
            </a:r>
            <a:r>
              <a:rPr lang="en-US" sz="2200" dirty="0"/>
              <a:t>Real-time asset tracking</a:t>
            </a:r>
          </a:p>
          <a:p>
            <a:pPr>
              <a:spcAft>
                <a:spcPts val="600"/>
              </a:spcAft>
            </a:pPr>
            <a:r>
              <a:rPr lang="en-US" sz="2200" dirty="0">
                <a:solidFill>
                  <a:srgbClr val="00B0F0"/>
                </a:solidFill>
              </a:rPr>
              <a:t>       • </a:t>
            </a:r>
            <a:r>
              <a:rPr lang="en-US" sz="2200" dirty="0"/>
              <a:t>Automated workflow integration that eliminates manual check-outs</a:t>
            </a:r>
          </a:p>
          <a:p>
            <a:pPr>
              <a:spcAft>
                <a:spcPts val="600"/>
              </a:spcAft>
            </a:pPr>
            <a:r>
              <a:rPr lang="en-US" sz="2200" dirty="0">
                <a:solidFill>
                  <a:srgbClr val="00B0F0"/>
                </a:solidFill>
              </a:rPr>
              <a:t>       • </a:t>
            </a:r>
            <a:r>
              <a:rPr lang="en-US" sz="2200" dirty="0"/>
              <a:t>Continuous asset visibility via interactive dashboards</a:t>
            </a:r>
          </a:p>
          <a:p>
            <a:pPr>
              <a:spcAft>
                <a:spcPts val="600"/>
              </a:spcAft>
            </a:pPr>
            <a:r>
              <a:rPr lang="en-US" sz="2200" dirty="0">
                <a:solidFill>
                  <a:srgbClr val="00B0F0"/>
                </a:solidFill>
              </a:rPr>
              <a:t>       • </a:t>
            </a:r>
            <a:r>
              <a:rPr lang="en-US" sz="2200" dirty="0"/>
              <a:t>Enterprise security &amp; operational sustainability</a:t>
            </a:r>
          </a:p>
          <a:p>
            <a:pPr>
              <a:spcAft>
                <a:spcPts val="1200"/>
              </a:spcAft>
            </a:pPr>
            <a:r>
              <a:rPr lang="en-US" sz="2200" dirty="0"/>
              <a:t>This automated IoT solution reclaims up to 60 minutes per nurse per shift, redistributing labor hours back to bedside pediatric patient care while preventing redundant equipment purchases and loss.</a:t>
            </a:r>
          </a:p>
        </p:txBody>
      </p:sp>
      <p:pic>
        <p:nvPicPr>
          <p:cNvPr id="2" name="Slide 3">
            <a:hlinkClick r:id="" action="ppaction://media"/>
            <a:extLst>
              <a:ext uri="{FF2B5EF4-FFF2-40B4-BE49-F238E27FC236}">
                <a16:creationId xmlns:a16="http://schemas.microsoft.com/office/drawing/2014/main" id="{B3D437C0-C7F7-39EB-18DB-E2EA82D615E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8051" y="153458"/>
            <a:ext cx="487363" cy="487363"/>
          </a:xfrm>
          <a:prstGeom prst="rect">
            <a:avLst/>
          </a:prstGeom>
        </p:spPr>
      </p:pic>
    </p:spTree>
    <p:extLst>
      <p:ext uri="{BB962C8B-B14F-4D97-AF65-F5344CB8AC3E}">
        <p14:creationId xmlns:p14="http://schemas.microsoft.com/office/powerpoint/2010/main" val="2438107309"/>
      </p:ext>
    </p:extLst>
  </p:cSld>
  <p:clrMapOvr>
    <a:masterClrMapping/>
  </p:clrMapOvr>
  <mc:AlternateContent xmlns:mc="http://schemas.openxmlformats.org/markup-compatibility/2006" xmlns:p14="http://schemas.microsoft.com/office/powerpoint/2010/main">
    <mc:Choice Requires="p14">
      <p:transition spd="med" p14:dur="700" advTm="29554">
        <p:fade/>
      </p:transition>
    </mc:Choice>
    <mc:Fallback xmlns="">
      <p:transition spd="med" advTm="2955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55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AD74C-9B7D-80F6-B48F-0E73FD7D0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24F7E-9B44-77B6-BFEB-7FD58A5599F2}"/>
              </a:ext>
            </a:extLst>
          </p:cNvPr>
          <p:cNvSpPr>
            <a:spLocks noGrp="1"/>
          </p:cNvSpPr>
          <p:nvPr>
            <p:ph type="ctrTitle"/>
          </p:nvPr>
        </p:nvSpPr>
        <p:spPr>
          <a:xfrm>
            <a:off x="1662924" y="1856785"/>
            <a:ext cx="8737600" cy="2230019"/>
          </a:xfrm>
        </p:spPr>
        <p:txBody>
          <a:bodyPr>
            <a:noAutofit/>
          </a:bodyPr>
          <a:lstStyle/>
          <a:p>
            <a:pPr algn="ctr">
              <a:lnSpc>
                <a:spcPct val="100000"/>
              </a:lnSpc>
            </a:pPr>
            <a:r>
              <a:rPr lang="en-US" sz="6500" dirty="0"/>
              <a:t>Organization Profile and</a:t>
            </a:r>
            <a:br>
              <a:rPr lang="en-US" sz="6500" dirty="0"/>
            </a:br>
            <a:r>
              <a:rPr lang="en-US" sz="6500" dirty="0"/>
              <a:t>Problem Statement</a:t>
            </a:r>
          </a:p>
        </p:txBody>
      </p:sp>
      <p:pic>
        <p:nvPicPr>
          <p:cNvPr id="3" name="Slide 4">
            <a:hlinkClick r:id="" action="ppaction://media"/>
            <a:extLst>
              <a:ext uri="{FF2B5EF4-FFF2-40B4-BE49-F238E27FC236}">
                <a16:creationId xmlns:a16="http://schemas.microsoft.com/office/drawing/2014/main" id="{FD618CE7-2BF6-574A-9ADF-F2D46B820EB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8058" y="153459"/>
            <a:ext cx="487363" cy="487363"/>
          </a:xfrm>
          <a:prstGeom prst="rect">
            <a:avLst/>
          </a:prstGeom>
        </p:spPr>
      </p:pic>
    </p:spTree>
    <p:extLst>
      <p:ext uri="{BB962C8B-B14F-4D97-AF65-F5344CB8AC3E}">
        <p14:creationId xmlns:p14="http://schemas.microsoft.com/office/powerpoint/2010/main" val="1581082206"/>
      </p:ext>
    </p:extLst>
  </p:cSld>
  <p:clrMapOvr>
    <a:masterClrMapping/>
  </p:clrMapOvr>
  <mc:AlternateContent xmlns:mc="http://schemas.openxmlformats.org/markup-compatibility/2006" xmlns:p14="http://schemas.microsoft.com/office/powerpoint/2010/main">
    <mc:Choice Requires="p14">
      <p:transition spd="med" p14:dur="700" advTm="10056">
        <p:fade/>
      </p:transition>
    </mc:Choice>
    <mc:Fallback xmlns="">
      <p:transition spd="med" advTm="1005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5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78470" y="274637"/>
            <a:ext cx="10363200" cy="583779"/>
          </a:xfrm>
        </p:spPr>
        <p:txBody>
          <a:bodyPr>
            <a:normAutofit fontScale="90000"/>
          </a:bodyPr>
          <a:lstStyle/>
          <a:p>
            <a:pPr algn="ctr"/>
            <a:r>
              <a:rPr lang="en-US" b="1" dirty="0"/>
              <a:t>The Organization</a:t>
            </a:r>
          </a:p>
        </p:txBody>
      </p:sp>
      <p:sp>
        <p:nvSpPr>
          <p:cNvPr id="11" name="Rectangle: Rounded Corners 10">
            <a:extLst>
              <a:ext uri="{FF2B5EF4-FFF2-40B4-BE49-F238E27FC236}">
                <a16:creationId xmlns:a16="http://schemas.microsoft.com/office/drawing/2014/main" id="{D65AF83A-F9CE-E84B-6508-C5805C33EECE}"/>
              </a:ext>
            </a:extLst>
          </p:cNvPr>
          <p:cNvSpPr/>
          <p:nvPr/>
        </p:nvSpPr>
        <p:spPr>
          <a:xfrm>
            <a:off x="3819507" y="1496528"/>
            <a:ext cx="5281126" cy="144486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Graphic 7">
            <a:extLst>
              <a:ext uri="{FF2B5EF4-FFF2-40B4-BE49-F238E27FC236}">
                <a16:creationId xmlns:a16="http://schemas.microsoft.com/office/drawing/2014/main" id="{125C208B-0EEB-5405-B5D1-312931810D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9099" y="1635377"/>
            <a:ext cx="4241942" cy="1140936"/>
          </a:xfrm>
          <a:prstGeom prst="rect">
            <a:avLst/>
          </a:prstGeom>
        </p:spPr>
      </p:pic>
      <p:sp>
        <p:nvSpPr>
          <p:cNvPr id="13" name="TextBox 12">
            <a:extLst>
              <a:ext uri="{FF2B5EF4-FFF2-40B4-BE49-F238E27FC236}">
                <a16:creationId xmlns:a16="http://schemas.microsoft.com/office/drawing/2014/main" id="{CF1BB607-67FD-BF86-50E1-8CE1668FBE15}"/>
              </a:ext>
            </a:extLst>
          </p:cNvPr>
          <p:cNvSpPr txBox="1"/>
          <p:nvPr/>
        </p:nvSpPr>
        <p:spPr>
          <a:xfrm>
            <a:off x="1278471" y="3444659"/>
            <a:ext cx="10363199" cy="280076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a:ea typeface="+mn-ea"/>
                <a:cs typeface="+mn-cs"/>
              </a:rPr>
              <a:t>Cook Children’s is a top-ranked, non-profit pediatric healthcare network headquartered in Fort Worth, Texas. Founded with a commitment to improving the health and well-being of children, the organization has grown into a comprehensive healthcare system serving patients and families throughout North Texas. Cook Children’s combines specialized pediatric medical care with research, education, and community health initiatives to address the diverse healthcare needs of children and their families. As a pediatric organization, Cook Children’s prioritizes patient care and works to provide accessible, high-quality healthcare across its network.</a:t>
            </a:r>
          </a:p>
        </p:txBody>
      </p:sp>
      <p:sp>
        <p:nvSpPr>
          <p:cNvPr id="4" name="Rectangle 3">
            <a:extLst>
              <a:ext uri="{FF2B5EF4-FFF2-40B4-BE49-F238E27FC236}">
                <a16:creationId xmlns:a16="http://schemas.microsoft.com/office/drawing/2014/main" id="{00907D80-608F-1C14-F314-68E8C26EC377}"/>
              </a:ext>
            </a:extLst>
          </p:cNvPr>
          <p:cNvSpPr/>
          <p:nvPr/>
        </p:nvSpPr>
        <p:spPr>
          <a:xfrm>
            <a:off x="1066800" y="937538"/>
            <a:ext cx="10221684" cy="9144"/>
          </a:xfrm>
          <a:prstGeom prst="rect">
            <a:avLst/>
          </a:prstGeom>
          <a:solidFill>
            <a:srgbClr val="AFFFFF"/>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pic>
        <p:nvPicPr>
          <p:cNvPr id="2" name="Slide 5">
            <a:hlinkClick r:id="" action="ppaction://media"/>
            <a:extLst>
              <a:ext uri="{FF2B5EF4-FFF2-40B4-BE49-F238E27FC236}">
                <a16:creationId xmlns:a16="http://schemas.microsoft.com/office/drawing/2014/main" id="{C1B11865-8D56-65A1-A138-34DF0C17997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58054" y="153459"/>
            <a:ext cx="487363" cy="487363"/>
          </a:xfrm>
          <a:prstGeom prst="rect">
            <a:avLst/>
          </a:prstGeom>
        </p:spPr>
      </p:pic>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advTm="22247">
        <p:fade/>
      </p:transition>
    </mc:Choice>
    <mc:Fallback xmlns="">
      <p:transition spd="med" advTm="2224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24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8255-E3C6-EFEF-4AE4-2AF99B72456B}"/>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9D514C5E-4C12-0476-20DF-EBA1D3DF1CF0}"/>
              </a:ext>
            </a:extLst>
          </p:cNvPr>
          <p:cNvSpPr txBox="1">
            <a:spLocks/>
          </p:cNvSpPr>
          <p:nvPr/>
        </p:nvSpPr>
        <p:spPr>
          <a:xfrm>
            <a:off x="935448" y="274638"/>
            <a:ext cx="10678885"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Products and Services</a:t>
            </a:r>
          </a:p>
        </p:txBody>
      </p:sp>
      <p:sp>
        <p:nvSpPr>
          <p:cNvPr id="3" name="Rectangle 2">
            <a:extLst>
              <a:ext uri="{FF2B5EF4-FFF2-40B4-BE49-F238E27FC236}">
                <a16:creationId xmlns:a16="http://schemas.microsoft.com/office/drawing/2014/main" id="{15CE2DF2-7525-53DB-29C0-9AAEB6B672EE}"/>
              </a:ext>
            </a:extLst>
          </p:cNvPr>
          <p:cNvSpPr/>
          <p:nvPr/>
        </p:nvSpPr>
        <p:spPr>
          <a:xfrm>
            <a:off x="1066800" y="1209676"/>
            <a:ext cx="10221684" cy="9144"/>
          </a:xfrm>
          <a:prstGeom prst="rect">
            <a:avLst/>
          </a:prstGeom>
          <a:solidFill>
            <a:srgbClr val="AFFFFF"/>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pic>
        <p:nvPicPr>
          <p:cNvPr id="8" name="Content Placeholder 17" descr="Stethoscope on green background">
            <a:extLst>
              <a:ext uri="{FF2B5EF4-FFF2-40B4-BE49-F238E27FC236}">
                <a16:creationId xmlns:a16="http://schemas.microsoft.com/office/drawing/2014/main" id="{7F7522AA-86EB-8931-1BB4-F3B3C0D02CD1}"/>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rcRect l="4164" t="200" r="71554" b="1929"/>
          <a:stretch>
            <a:fillRect/>
          </a:stretch>
        </p:blipFill>
        <p:spPr>
          <a:xfrm>
            <a:off x="1104585" y="1843955"/>
            <a:ext cx="1820251" cy="4465320"/>
          </a:xfrm>
          <a:noFill/>
        </p:spPr>
      </p:pic>
      <p:sp>
        <p:nvSpPr>
          <p:cNvPr id="10" name="Content Placeholder 13">
            <a:extLst>
              <a:ext uri="{FF2B5EF4-FFF2-40B4-BE49-F238E27FC236}">
                <a16:creationId xmlns:a16="http://schemas.microsoft.com/office/drawing/2014/main" id="{685A8896-C6B3-7A13-6044-C4256A183E2E}"/>
              </a:ext>
            </a:extLst>
          </p:cNvPr>
          <p:cNvSpPr>
            <a:spLocks noGrp="1"/>
          </p:cNvSpPr>
          <p:nvPr>
            <p:ph sz="half" idx="2"/>
          </p:nvPr>
        </p:nvSpPr>
        <p:spPr>
          <a:xfrm>
            <a:off x="3241890" y="1843955"/>
            <a:ext cx="2886075" cy="4562475"/>
          </a:xfrm>
        </p:spPr>
        <p:txBody>
          <a:bodyPr vert="horz" lIns="121899" tIns="60949" rIns="121899" bIns="60949" rtlCol="0">
            <a:noAutofit/>
          </a:bodyPr>
          <a:lstStyle/>
          <a:p>
            <a:pPr marL="0" indent="0">
              <a:spcBef>
                <a:spcPts val="300"/>
              </a:spcBef>
              <a:buNone/>
            </a:pPr>
            <a:r>
              <a:rPr lang="en-US" sz="2400" dirty="0">
                <a:solidFill>
                  <a:srgbClr val="00B0F0"/>
                </a:solidFill>
              </a:rPr>
              <a:t>Medical Care</a:t>
            </a:r>
          </a:p>
          <a:p>
            <a:pPr marL="0" indent="0">
              <a:spcBef>
                <a:spcPts val="300"/>
              </a:spcBef>
              <a:buNone/>
            </a:pPr>
            <a:r>
              <a:rPr lang="en-US" sz="1900" dirty="0">
                <a:solidFill>
                  <a:srgbClr val="00B0F0"/>
                </a:solidFill>
              </a:rPr>
              <a:t>•</a:t>
            </a:r>
            <a:r>
              <a:rPr lang="en-US" sz="1900" dirty="0"/>
              <a:t> Primary and specialty </a:t>
            </a:r>
          </a:p>
          <a:p>
            <a:pPr marL="0" indent="0">
              <a:spcBef>
                <a:spcPts val="300"/>
              </a:spcBef>
              <a:buNone/>
            </a:pPr>
            <a:r>
              <a:rPr lang="en-US" sz="1900" dirty="0"/>
              <a:t>   pediatric care </a:t>
            </a:r>
          </a:p>
          <a:p>
            <a:pPr marL="0" indent="0">
              <a:spcBef>
                <a:spcPts val="300"/>
              </a:spcBef>
              <a:buNone/>
            </a:pPr>
            <a:r>
              <a:rPr lang="en-US" sz="1900" dirty="0">
                <a:solidFill>
                  <a:srgbClr val="00B0F0"/>
                </a:solidFill>
              </a:rPr>
              <a:t>•</a:t>
            </a:r>
            <a:r>
              <a:rPr lang="en-US" sz="1900" dirty="0"/>
              <a:t> Emergency and urgent  </a:t>
            </a:r>
          </a:p>
          <a:p>
            <a:pPr marL="0" indent="0">
              <a:spcBef>
                <a:spcPts val="300"/>
              </a:spcBef>
              <a:buNone/>
            </a:pPr>
            <a:r>
              <a:rPr lang="en-US" sz="1900" dirty="0"/>
              <a:t>   care </a:t>
            </a:r>
          </a:p>
          <a:p>
            <a:pPr marL="0" indent="0">
              <a:spcBef>
                <a:spcPts val="300"/>
              </a:spcBef>
              <a:buNone/>
            </a:pPr>
            <a:r>
              <a:rPr lang="en-US" sz="1900" dirty="0">
                <a:solidFill>
                  <a:srgbClr val="00B0F0"/>
                </a:solidFill>
              </a:rPr>
              <a:t>•</a:t>
            </a:r>
            <a:r>
              <a:rPr lang="en-US" sz="1900" dirty="0"/>
              <a:t> Inpatient and outpatient </a:t>
            </a:r>
          </a:p>
          <a:p>
            <a:pPr marL="0" indent="0">
              <a:spcBef>
                <a:spcPts val="300"/>
              </a:spcBef>
              <a:buNone/>
            </a:pPr>
            <a:r>
              <a:rPr lang="en-US" sz="1900" dirty="0"/>
              <a:t>   treatment </a:t>
            </a:r>
          </a:p>
          <a:p>
            <a:pPr marL="0" indent="0">
              <a:spcBef>
                <a:spcPts val="300"/>
              </a:spcBef>
              <a:buNone/>
            </a:pPr>
            <a:r>
              <a:rPr lang="en-US" sz="1900" dirty="0">
                <a:solidFill>
                  <a:srgbClr val="00B0F0"/>
                </a:solidFill>
              </a:rPr>
              <a:t>•</a:t>
            </a:r>
            <a:r>
              <a:rPr lang="en-US" sz="1900" dirty="0"/>
              <a:t> Pediatric surgery </a:t>
            </a:r>
          </a:p>
          <a:p>
            <a:pPr marL="0" indent="0">
              <a:spcBef>
                <a:spcPts val="300"/>
              </a:spcBef>
              <a:buNone/>
            </a:pPr>
            <a:r>
              <a:rPr lang="en-US" sz="1900" dirty="0">
                <a:solidFill>
                  <a:srgbClr val="00B0F0"/>
                </a:solidFill>
              </a:rPr>
              <a:t>•</a:t>
            </a:r>
            <a:r>
              <a:rPr lang="en-US" sz="1900" dirty="0"/>
              <a:t> Rehabilitation</a:t>
            </a:r>
          </a:p>
          <a:p>
            <a:pPr marL="0" indent="0">
              <a:spcBef>
                <a:spcPts val="300"/>
              </a:spcBef>
              <a:buNone/>
            </a:pPr>
            <a:r>
              <a:rPr lang="en-US" sz="1900" dirty="0">
                <a:solidFill>
                  <a:srgbClr val="00B0F0"/>
                </a:solidFill>
              </a:rPr>
              <a:t>•</a:t>
            </a:r>
            <a:r>
              <a:rPr lang="en-US" sz="1900" dirty="0">
                <a:solidFill>
                  <a:srgbClr val="AFFFFF"/>
                </a:solidFill>
              </a:rPr>
              <a:t> </a:t>
            </a:r>
            <a:r>
              <a:rPr lang="en-US" sz="1900" dirty="0"/>
              <a:t>Behavioral health</a:t>
            </a:r>
          </a:p>
          <a:p>
            <a:pPr marL="0" indent="0">
              <a:spcBef>
                <a:spcPts val="300"/>
              </a:spcBef>
              <a:buNone/>
            </a:pPr>
            <a:endParaRPr lang="en-US" sz="1900" dirty="0"/>
          </a:p>
        </p:txBody>
      </p:sp>
      <p:sp>
        <p:nvSpPr>
          <p:cNvPr id="11" name="Content Placeholder 13">
            <a:extLst>
              <a:ext uri="{FF2B5EF4-FFF2-40B4-BE49-F238E27FC236}">
                <a16:creationId xmlns:a16="http://schemas.microsoft.com/office/drawing/2014/main" id="{728A8C6B-2C61-D1A0-2451-8E5AFFE0D7AE}"/>
              </a:ext>
            </a:extLst>
          </p:cNvPr>
          <p:cNvSpPr txBox="1">
            <a:spLocks/>
          </p:cNvSpPr>
          <p:nvPr/>
        </p:nvSpPr>
        <p:spPr>
          <a:xfrm>
            <a:off x="6227573" y="1843955"/>
            <a:ext cx="2886075" cy="4562475"/>
          </a:xfrm>
          <a:prstGeom prst="rect">
            <a:avLst/>
          </a:prstGeom>
        </p:spPr>
        <p:txBody>
          <a:bodyPr vert="horz" lIns="121899" tIns="60949" rIns="121899" bIns="60949" rtlCol="0">
            <a:no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2400" b="0" i="0" u="none" strike="noStrike" kern="1200" cap="none" spc="0" normalizeH="0" baseline="0" noProof="0" dirty="0">
                <a:ln>
                  <a:noFill/>
                </a:ln>
                <a:solidFill>
                  <a:srgbClr val="00B0F0"/>
                </a:solidFill>
                <a:effectLst/>
                <a:uLnTx/>
                <a:uFillTx/>
                <a:latin typeface="Calibri"/>
                <a:ea typeface="+mn-ea"/>
                <a:cs typeface="+mn-cs"/>
              </a:rPr>
              <a:t>Support Services</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Diagnostic testing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Pharmacy services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Care coordination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Home health services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Health education</a:t>
            </a:r>
          </a:p>
        </p:txBody>
      </p:sp>
      <p:sp>
        <p:nvSpPr>
          <p:cNvPr id="12" name="Content Placeholder 13">
            <a:extLst>
              <a:ext uri="{FF2B5EF4-FFF2-40B4-BE49-F238E27FC236}">
                <a16:creationId xmlns:a16="http://schemas.microsoft.com/office/drawing/2014/main" id="{5DCEFE7D-74D3-9DFF-1EA9-815C04B9C39D}"/>
              </a:ext>
            </a:extLst>
          </p:cNvPr>
          <p:cNvSpPr txBox="1">
            <a:spLocks/>
          </p:cNvSpPr>
          <p:nvPr/>
        </p:nvSpPr>
        <p:spPr>
          <a:xfrm>
            <a:off x="8971943" y="1843955"/>
            <a:ext cx="2886075" cy="4562475"/>
          </a:xfrm>
          <a:prstGeom prst="rect">
            <a:avLst/>
          </a:prstGeom>
        </p:spPr>
        <p:txBody>
          <a:bodyPr vert="horz" lIns="121899" tIns="60949" rIns="121899" bIns="60949" rtlCol="0">
            <a:no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2400" b="0" i="0" u="none" strike="noStrike" kern="1200" cap="none" spc="0" normalizeH="0" baseline="0" noProof="0" dirty="0">
                <a:ln>
                  <a:noFill/>
                </a:ln>
                <a:solidFill>
                  <a:srgbClr val="00B0F0"/>
                </a:solidFill>
                <a:effectLst/>
                <a:uLnTx/>
                <a:uFillTx/>
                <a:latin typeface="Calibri"/>
                <a:ea typeface="+mn-ea"/>
                <a:cs typeface="+mn-cs"/>
              </a:rPr>
              <a:t>Specialized and Community Services</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Complex-care programs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Pediatric medical centers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Specialty programs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Community health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initiatives</a:t>
            </a:r>
          </a:p>
        </p:txBody>
      </p:sp>
      <p:pic>
        <p:nvPicPr>
          <p:cNvPr id="2" name="Slide 6">
            <a:hlinkClick r:id="" action="ppaction://media"/>
            <a:extLst>
              <a:ext uri="{FF2B5EF4-FFF2-40B4-BE49-F238E27FC236}">
                <a16:creationId xmlns:a16="http://schemas.microsoft.com/office/drawing/2014/main" id="{D8FA3D43-518C-D7D4-E972-19B6CB61DFA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46604" y="149487"/>
            <a:ext cx="487363" cy="487363"/>
          </a:xfrm>
          <a:prstGeom prst="rect">
            <a:avLst/>
          </a:prstGeom>
        </p:spPr>
      </p:pic>
    </p:spTree>
    <p:extLst>
      <p:ext uri="{BB962C8B-B14F-4D97-AF65-F5344CB8AC3E}">
        <p14:creationId xmlns:p14="http://schemas.microsoft.com/office/powerpoint/2010/main" val="1796567849"/>
      </p:ext>
    </p:extLst>
  </p:cSld>
  <p:clrMapOvr>
    <a:masterClrMapping/>
  </p:clrMapOvr>
  <mc:AlternateContent xmlns:mc="http://schemas.openxmlformats.org/markup-compatibility/2006" xmlns:p14="http://schemas.microsoft.com/office/powerpoint/2010/main">
    <mc:Choice Requires="p14">
      <p:transition spd="med" p14:dur="700" advTm="23367">
        <p:fade/>
      </p:transition>
    </mc:Choice>
    <mc:Fallback xmlns="">
      <p:transition spd="med" advTm="2336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3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94681-58FE-9596-BCE6-5D6D2D18DD19}"/>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FF80D0AF-45DE-0256-A843-E083CBD72E97}"/>
              </a:ext>
            </a:extLst>
          </p:cNvPr>
          <p:cNvSpPr txBox="1">
            <a:spLocks/>
          </p:cNvSpPr>
          <p:nvPr/>
        </p:nvSpPr>
        <p:spPr>
          <a:xfrm>
            <a:off x="942383" y="280303"/>
            <a:ext cx="10363200" cy="704851"/>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Areas for Improvement with Technology</a:t>
            </a:r>
          </a:p>
        </p:txBody>
      </p:sp>
      <p:pic>
        <p:nvPicPr>
          <p:cNvPr id="18" name="Content Placeholder 17">
            <a:extLst>
              <a:ext uri="{FF2B5EF4-FFF2-40B4-BE49-F238E27FC236}">
                <a16:creationId xmlns:a16="http://schemas.microsoft.com/office/drawing/2014/main" id="{C6937C8D-1E13-1FAB-257F-B360E3A5AD0C}"/>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rcRect l="38657" t="21" r="38377" b="-21"/>
          <a:stretch>
            <a:fillRect/>
          </a:stretch>
        </p:blipFill>
        <p:spPr>
          <a:xfrm>
            <a:off x="1104585" y="1843955"/>
            <a:ext cx="1820251" cy="4465320"/>
          </a:xfrm>
          <a:noFill/>
        </p:spPr>
      </p:pic>
      <p:sp>
        <p:nvSpPr>
          <p:cNvPr id="14" name="Content Placeholder 13">
            <a:extLst>
              <a:ext uri="{FF2B5EF4-FFF2-40B4-BE49-F238E27FC236}">
                <a16:creationId xmlns:a16="http://schemas.microsoft.com/office/drawing/2014/main" id="{FDA3BD99-1706-2FC5-EA44-715201FC058D}"/>
              </a:ext>
            </a:extLst>
          </p:cNvPr>
          <p:cNvSpPr>
            <a:spLocks noGrp="1"/>
          </p:cNvSpPr>
          <p:nvPr>
            <p:ph sz="half" idx="2"/>
          </p:nvPr>
        </p:nvSpPr>
        <p:spPr>
          <a:xfrm>
            <a:off x="3241890" y="1722652"/>
            <a:ext cx="2886075" cy="4562475"/>
          </a:xfrm>
        </p:spPr>
        <p:txBody>
          <a:bodyPr vert="horz" lIns="121899" tIns="60949" rIns="121899" bIns="60949" rtlCol="0">
            <a:noAutofit/>
          </a:bodyPr>
          <a:lstStyle/>
          <a:p>
            <a:pPr marL="0" indent="0">
              <a:spcBef>
                <a:spcPts val="150"/>
              </a:spcBef>
              <a:buNone/>
            </a:pPr>
            <a:r>
              <a:rPr lang="en-US" sz="2400" dirty="0">
                <a:solidFill>
                  <a:srgbClr val="00B0F0"/>
                </a:solidFill>
              </a:rPr>
              <a:t>Concerns</a:t>
            </a:r>
          </a:p>
          <a:p>
            <a:pPr marL="0" indent="0">
              <a:spcBef>
                <a:spcPts val="150"/>
              </a:spcBef>
              <a:buNone/>
            </a:pPr>
            <a:r>
              <a:rPr lang="en-US" sz="1900" dirty="0">
                <a:solidFill>
                  <a:srgbClr val="00B0F0"/>
                </a:solidFill>
              </a:rPr>
              <a:t>•</a:t>
            </a:r>
            <a:r>
              <a:rPr lang="en-US" sz="1900" dirty="0"/>
              <a:t> Nurses spend valuable </a:t>
            </a:r>
          </a:p>
          <a:p>
            <a:pPr marL="0" indent="0">
              <a:spcBef>
                <a:spcPts val="150"/>
              </a:spcBef>
              <a:buNone/>
            </a:pPr>
            <a:r>
              <a:rPr lang="en-US" sz="1900" dirty="0"/>
              <a:t>   time searching for </a:t>
            </a:r>
          </a:p>
          <a:p>
            <a:pPr marL="0" indent="0">
              <a:spcBef>
                <a:spcPts val="150"/>
              </a:spcBef>
              <a:buNone/>
            </a:pPr>
            <a:r>
              <a:rPr lang="en-US" sz="1900" dirty="0"/>
              <a:t>   shared medical </a:t>
            </a:r>
          </a:p>
          <a:p>
            <a:pPr marL="0" indent="0">
              <a:spcBef>
                <a:spcPts val="150"/>
              </a:spcBef>
              <a:buNone/>
            </a:pPr>
            <a:r>
              <a:rPr lang="en-US" sz="1900" dirty="0"/>
              <a:t>   equipment</a:t>
            </a:r>
          </a:p>
          <a:p>
            <a:pPr marL="0" indent="0">
              <a:spcBef>
                <a:spcPts val="150"/>
              </a:spcBef>
              <a:buNone/>
            </a:pPr>
            <a:r>
              <a:rPr lang="en-US" sz="1900" dirty="0">
                <a:solidFill>
                  <a:schemeClr val="tx1">
                    <a:lumMod val="65000"/>
                  </a:schemeClr>
                </a:solidFill>
              </a:rPr>
              <a:t>   </a:t>
            </a:r>
            <a:r>
              <a:rPr lang="en-US" sz="2000" dirty="0">
                <a:solidFill>
                  <a:schemeClr val="tx1">
                    <a:lumMod val="65000"/>
                  </a:schemeClr>
                </a:solidFill>
              </a:rPr>
              <a:t>(</a:t>
            </a:r>
            <a:r>
              <a:rPr lang="en-US" sz="2000" dirty="0" err="1">
                <a:solidFill>
                  <a:schemeClr val="tx1">
                    <a:lumMod val="65000"/>
                  </a:schemeClr>
                </a:solidFill>
              </a:rPr>
              <a:t>Qtait</a:t>
            </a:r>
            <a:r>
              <a:rPr lang="en-US" sz="2000" dirty="0">
                <a:solidFill>
                  <a:schemeClr val="tx1">
                    <a:lumMod val="65000"/>
                  </a:schemeClr>
                </a:solidFill>
              </a:rPr>
              <a:t>, 2025)</a:t>
            </a:r>
            <a:r>
              <a:rPr lang="en-US" sz="1900" dirty="0"/>
              <a:t>. </a:t>
            </a:r>
          </a:p>
          <a:p>
            <a:pPr marL="0" indent="0">
              <a:spcBef>
                <a:spcPts val="150"/>
              </a:spcBef>
              <a:buNone/>
            </a:pPr>
            <a:r>
              <a:rPr lang="en-US" sz="1900" dirty="0">
                <a:solidFill>
                  <a:srgbClr val="00B0F0"/>
                </a:solidFill>
              </a:rPr>
              <a:t>•</a:t>
            </a:r>
            <a:r>
              <a:rPr lang="en-US" sz="1900" dirty="0"/>
              <a:t> Equipment may</a:t>
            </a:r>
          </a:p>
          <a:p>
            <a:pPr marL="0" indent="0">
              <a:spcBef>
                <a:spcPts val="150"/>
              </a:spcBef>
              <a:buNone/>
            </a:pPr>
            <a:r>
              <a:rPr lang="en-US" sz="1900" dirty="0"/>
              <a:t>   be in another room,   </a:t>
            </a:r>
          </a:p>
          <a:p>
            <a:pPr marL="0" indent="0">
              <a:spcBef>
                <a:spcPts val="150"/>
              </a:spcBef>
              <a:buNone/>
            </a:pPr>
            <a:r>
              <a:rPr lang="en-US" sz="1900" dirty="0"/>
              <a:t>   department, or floor. </a:t>
            </a:r>
          </a:p>
          <a:p>
            <a:pPr marL="0" indent="0">
              <a:spcBef>
                <a:spcPts val="150"/>
              </a:spcBef>
              <a:buNone/>
            </a:pPr>
            <a:r>
              <a:rPr lang="en-US" sz="1900" dirty="0">
                <a:solidFill>
                  <a:srgbClr val="00B0F0"/>
                </a:solidFill>
              </a:rPr>
              <a:t>•</a:t>
            </a:r>
            <a:r>
              <a:rPr lang="en-US" sz="1900" dirty="0"/>
              <a:t> Nurses may not know</a:t>
            </a:r>
          </a:p>
          <a:p>
            <a:pPr marL="0" indent="0">
              <a:spcBef>
                <a:spcPts val="150"/>
              </a:spcBef>
              <a:buNone/>
            </a:pPr>
            <a:r>
              <a:rPr lang="en-US" sz="1900" dirty="0"/>
              <a:t>   whether equipment is</a:t>
            </a:r>
          </a:p>
          <a:p>
            <a:pPr marL="0" indent="0">
              <a:spcBef>
                <a:spcPts val="150"/>
              </a:spcBef>
              <a:buNone/>
            </a:pPr>
            <a:r>
              <a:rPr lang="en-US" sz="1900" dirty="0"/>
              <a:t>   available, clean, or ready</a:t>
            </a:r>
          </a:p>
          <a:p>
            <a:pPr marL="0" indent="0">
              <a:spcBef>
                <a:spcPts val="150"/>
              </a:spcBef>
              <a:buNone/>
            </a:pPr>
            <a:r>
              <a:rPr lang="en-US" sz="1900" dirty="0"/>
              <a:t>   for use. </a:t>
            </a:r>
          </a:p>
          <a:p>
            <a:pPr marL="0" indent="0">
              <a:spcBef>
                <a:spcPts val="150"/>
              </a:spcBef>
              <a:buNone/>
            </a:pPr>
            <a:r>
              <a:rPr lang="en-US" sz="1900" dirty="0">
                <a:solidFill>
                  <a:srgbClr val="00B0F0"/>
                </a:solidFill>
              </a:rPr>
              <a:t>•</a:t>
            </a:r>
            <a:r>
              <a:rPr lang="en-US" sz="1900" dirty="0"/>
              <a:t> Time spent searching</a:t>
            </a:r>
          </a:p>
          <a:p>
            <a:pPr marL="0" indent="0">
              <a:spcBef>
                <a:spcPts val="150"/>
              </a:spcBef>
              <a:buNone/>
            </a:pPr>
            <a:r>
              <a:rPr lang="en-US" sz="1900" dirty="0"/>
              <a:t>   takes nurses away from</a:t>
            </a:r>
          </a:p>
          <a:p>
            <a:pPr marL="0" indent="0">
              <a:spcBef>
                <a:spcPts val="150"/>
              </a:spcBef>
              <a:buNone/>
            </a:pPr>
            <a:r>
              <a:rPr lang="en-US" sz="1900" dirty="0"/>
              <a:t>   direct patient care.</a:t>
            </a:r>
          </a:p>
        </p:txBody>
      </p:sp>
      <p:sp>
        <p:nvSpPr>
          <p:cNvPr id="6" name="Content Placeholder 13">
            <a:extLst>
              <a:ext uri="{FF2B5EF4-FFF2-40B4-BE49-F238E27FC236}">
                <a16:creationId xmlns:a16="http://schemas.microsoft.com/office/drawing/2014/main" id="{4F8A482F-7154-92F6-8B4F-46A8B26A6CB3}"/>
              </a:ext>
            </a:extLst>
          </p:cNvPr>
          <p:cNvSpPr txBox="1">
            <a:spLocks/>
          </p:cNvSpPr>
          <p:nvPr/>
        </p:nvSpPr>
        <p:spPr>
          <a:xfrm>
            <a:off x="6227573" y="1722652"/>
            <a:ext cx="2886075" cy="4562475"/>
          </a:xfrm>
          <a:prstGeom prst="rect">
            <a:avLst/>
          </a:prstGeom>
        </p:spPr>
        <p:txBody>
          <a:bodyPr vert="horz" lIns="121899" tIns="60949" rIns="121899" bIns="60949" rtlCol="0">
            <a:no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marR="0" lvl="0" indent="0" algn="l" defTabSz="1218987" rtl="0" eaLnBrk="1" fontAlgn="auto" latinLnBrk="0" hangingPunct="1">
              <a:lnSpc>
                <a:spcPct val="90000"/>
              </a:lnSpc>
              <a:spcBef>
                <a:spcPts val="150"/>
              </a:spcBef>
              <a:spcAft>
                <a:spcPts val="0"/>
              </a:spcAft>
              <a:buClr>
                <a:srgbClr val="009999"/>
              </a:buClr>
              <a:buSzPct val="100000"/>
              <a:buFont typeface="Arial" pitchFamily="34" charset="0"/>
              <a:buNone/>
              <a:tabLst/>
              <a:defRPr/>
            </a:pPr>
            <a:r>
              <a:rPr kumimoji="0" lang="en-US" sz="2400" b="0" i="0" u="none" strike="noStrike" kern="1200" cap="none" spc="0" normalizeH="0" baseline="0" noProof="0" dirty="0">
                <a:ln>
                  <a:noFill/>
                </a:ln>
                <a:solidFill>
                  <a:srgbClr val="00B0F0"/>
                </a:solidFill>
                <a:effectLst/>
                <a:uLnTx/>
                <a:uFillTx/>
                <a:latin typeface="Calibri"/>
                <a:ea typeface="+mn-ea"/>
                <a:cs typeface="+mn-cs"/>
              </a:rPr>
              <a:t>Improvements</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Attach an IoT sensor</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to mobile medical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equipment.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Provide real-time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equipment location and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availability.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Nurses badges </a:t>
            </a:r>
          </a:p>
          <a:p>
            <a:pPr marL="0" lvl="0" indent="0">
              <a:spcBef>
                <a:spcPts val="300"/>
              </a:spcBef>
              <a:buClr>
                <a:srgbClr val="009999"/>
              </a:buClr>
              <a:buNone/>
            </a:pPr>
            <a:r>
              <a:rPr lang="en-US" sz="1900" dirty="0">
                <a:solidFill>
                  <a:prstClr val="white"/>
                </a:solidFill>
                <a:latin typeface="Calibri"/>
              </a:rPr>
              <a:t>   </a:t>
            </a:r>
            <a:r>
              <a:rPr kumimoji="0" lang="en-US" sz="1900" b="0" i="0" u="none" strike="noStrike" kern="1200" cap="none" spc="0" normalizeH="0" baseline="0" noProof="0" dirty="0">
                <a:ln>
                  <a:noFill/>
                </a:ln>
                <a:solidFill>
                  <a:prstClr val="white"/>
                </a:solidFill>
                <a:effectLst/>
                <a:uLnTx/>
                <a:uFillTx/>
                <a:latin typeface="Calibri"/>
                <a:ea typeface="+mn-ea"/>
                <a:cs typeface="+mn-cs"/>
              </a:rPr>
              <a:t>automatically </a:t>
            </a:r>
            <a:br>
              <a:rPr lang="en-US" sz="1900" dirty="0">
                <a:solidFill>
                  <a:prstClr val="white"/>
                </a:solidFill>
                <a:latin typeface="Calibri"/>
              </a:rPr>
            </a:br>
            <a:r>
              <a:rPr lang="en-US" sz="1900" dirty="0">
                <a:solidFill>
                  <a:prstClr val="white"/>
                </a:solidFill>
                <a:latin typeface="Calibri"/>
              </a:rPr>
              <a:t>   </a:t>
            </a:r>
            <a:r>
              <a:rPr kumimoji="0" lang="en-US" sz="1900" b="0" i="0" u="none" strike="noStrike" kern="1200" cap="none" spc="0" normalizeH="0" baseline="0" noProof="0" dirty="0">
                <a:ln>
                  <a:noFill/>
                </a:ln>
                <a:solidFill>
                  <a:prstClr val="white"/>
                </a:solidFill>
                <a:effectLst/>
                <a:uLnTx/>
                <a:uFillTx/>
                <a:latin typeface="Calibri"/>
                <a:ea typeface="+mn-ea"/>
                <a:cs typeface="+mn-cs"/>
              </a:rPr>
              <a:t>record equipment</a:t>
            </a:r>
            <a:br>
              <a:rPr kumimoji="0" lang="en-US" sz="1900" b="0" i="0" u="none" strike="noStrike" kern="1200" cap="none" spc="0" normalizeH="0" baseline="0" noProof="0" dirty="0">
                <a:ln>
                  <a:noFill/>
                </a:ln>
                <a:solidFill>
                  <a:prstClr val="white"/>
                </a:solidFill>
                <a:effectLst/>
                <a:uLnTx/>
                <a:uFillTx/>
                <a:latin typeface="Calibri"/>
                <a:ea typeface="+mn-ea"/>
                <a:cs typeface="+mn-cs"/>
              </a:rPr>
            </a:br>
            <a:r>
              <a:rPr kumimoji="0" lang="en-US" sz="1900" b="0" i="0" u="none" strike="noStrike" kern="1200" cap="none" spc="0" normalizeH="0" baseline="0" noProof="0" dirty="0">
                <a:ln>
                  <a:noFill/>
                </a:ln>
                <a:solidFill>
                  <a:prstClr val="white"/>
                </a:solidFill>
                <a:effectLst/>
                <a:uLnTx/>
                <a:uFillTx/>
                <a:latin typeface="Calibri"/>
                <a:ea typeface="+mn-ea"/>
                <a:cs typeface="+mn-cs"/>
              </a:rPr>
              <a:t>   checkout and usage.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Track cleaning and</a:t>
            </a:r>
            <a:br>
              <a:rPr kumimoji="0" lang="en-US" sz="1900" b="0" i="0" u="none" strike="noStrike" kern="1200" cap="none" spc="0" normalizeH="0" baseline="0" noProof="0" dirty="0">
                <a:ln>
                  <a:noFill/>
                </a:ln>
                <a:solidFill>
                  <a:prstClr val="white"/>
                </a:solidFill>
                <a:effectLst/>
                <a:uLnTx/>
                <a:uFillTx/>
                <a:latin typeface="Calibri"/>
                <a:ea typeface="+mn-ea"/>
                <a:cs typeface="+mn-cs"/>
              </a:rPr>
            </a:br>
            <a:r>
              <a:rPr kumimoji="0" lang="en-US" sz="1900" b="0" i="0" u="none" strike="noStrike" kern="1200" cap="none" spc="0" normalizeH="0" baseline="0" noProof="0" dirty="0">
                <a:ln>
                  <a:noFill/>
                </a:ln>
                <a:solidFill>
                  <a:prstClr val="white"/>
                </a:solidFill>
                <a:effectLst/>
                <a:uLnTx/>
                <a:uFillTx/>
                <a:latin typeface="Calibri"/>
                <a:ea typeface="+mn-ea"/>
                <a:cs typeface="+mn-cs"/>
              </a:rPr>
              <a:t>   maintenance status. </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Provide </a:t>
            </a:r>
            <a:r>
              <a:rPr lang="en-US" sz="1900" dirty="0">
                <a:solidFill>
                  <a:prstClr val="white"/>
                </a:solidFill>
                <a:latin typeface="Calibri"/>
              </a:rPr>
              <a:t>a </a:t>
            </a:r>
            <a:r>
              <a:rPr kumimoji="0" lang="en-US" sz="1900" b="0" i="0" u="none" strike="noStrike" kern="1200" cap="none" spc="0" normalizeH="0" baseline="0" noProof="0" dirty="0">
                <a:ln>
                  <a:noFill/>
                </a:ln>
                <a:solidFill>
                  <a:prstClr val="white"/>
                </a:solidFill>
                <a:effectLst/>
                <a:uLnTx/>
                <a:uFillTx/>
                <a:latin typeface="Calibri"/>
                <a:ea typeface="+mn-ea"/>
                <a:cs typeface="+mn-cs"/>
              </a:rPr>
              <a:t>dashboard for</a:t>
            </a:r>
            <a:br>
              <a:rPr kumimoji="0" lang="en-US" sz="1900" b="0" i="0" u="none" strike="noStrike" kern="1200" cap="none" spc="0" normalizeH="0" baseline="0" noProof="0" dirty="0">
                <a:ln>
                  <a:noFill/>
                </a:ln>
                <a:solidFill>
                  <a:prstClr val="white"/>
                </a:solidFill>
                <a:effectLst/>
                <a:uLnTx/>
                <a:uFillTx/>
                <a:latin typeface="Calibri"/>
                <a:ea typeface="+mn-ea"/>
                <a:cs typeface="+mn-cs"/>
              </a:rPr>
            </a:br>
            <a:r>
              <a:rPr kumimoji="0" lang="en-US" sz="1900" b="0" i="0" u="none" strike="noStrike" kern="1200" cap="none" spc="0" normalizeH="0" baseline="0" noProof="0" dirty="0">
                <a:ln>
                  <a:noFill/>
                </a:ln>
                <a:solidFill>
                  <a:prstClr val="white"/>
                </a:solidFill>
                <a:effectLst/>
                <a:uLnTx/>
                <a:uFillTx/>
                <a:latin typeface="Calibri"/>
                <a:ea typeface="+mn-ea"/>
                <a:cs typeface="+mn-cs"/>
              </a:rPr>
              <a:t>   managing equipment.</a:t>
            </a:r>
          </a:p>
        </p:txBody>
      </p:sp>
      <p:sp>
        <p:nvSpPr>
          <p:cNvPr id="8" name="Content Placeholder 13">
            <a:extLst>
              <a:ext uri="{FF2B5EF4-FFF2-40B4-BE49-F238E27FC236}">
                <a16:creationId xmlns:a16="http://schemas.microsoft.com/office/drawing/2014/main" id="{8E39A0EC-4FAD-C071-5AB5-F99537A977D1}"/>
              </a:ext>
            </a:extLst>
          </p:cNvPr>
          <p:cNvSpPr txBox="1">
            <a:spLocks/>
          </p:cNvSpPr>
          <p:nvPr/>
        </p:nvSpPr>
        <p:spPr>
          <a:xfrm>
            <a:off x="8971943" y="1722652"/>
            <a:ext cx="2886075" cy="4562475"/>
          </a:xfrm>
          <a:prstGeom prst="rect">
            <a:avLst/>
          </a:prstGeom>
        </p:spPr>
        <p:txBody>
          <a:bodyPr vert="horz" lIns="121899" tIns="60949" rIns="121899" bIns="60949" rtlCol="0">
            <a:noAutofit/>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2400" b="0" i="0" u="none" strike="noStrike" kern="1200" cap="none" spc="0" normalizeH="0" baseline="0" noProof="0" dirty="0">
                <a:ln>
                  <a:noFill/>
                </a:ln>
                <a:solidFill>
                  <a:srgbClr val="00B0F0"/>
                </a:solidFill>
                <a:effectLst/>
                <a:uLnTx/>
                <a:uFillTx/>
                <a:latin typeface="Calibri"/>
                <a:ea typeface="+mn-ea"/>
                <a:cs typeface="+mn-cs"/>
              </a:rPr>
              <a:t>Benefit</a:t>
            </a:r>
          </a:p>
          <a:p>
            <a:pPr marL="0" lvl="0" indent="0">
              <a:spcBef>
                <a:spcPts val="300"/>
              </a:spcBef>
              <a:buClr>
                <a:srgbClr val="009999"/>
              </a:buClr>
              <a:buNone/>
            </a:pPr>
            <a:r>
              <a:rPr lang="en-US" sz="1900" dirty="0">
                <a:solidFill>
                  <a:srgbClr val="00B0F0"/>
                </a:solidFill>
              </a:rPr>
              <a:t>•</a:t>
            </a:r>
            <a:r>
              <a:rPr kumimoji="0" lang="en-US" sz="1900" b="0" i="0" u="none" strike="noStrike" kern="1200" cap="none" spc="0" normalizeH="0" baseline="0" noProof="0" dirty="0">
                <a:ln>
                  <a:noFill/>
                </a:ln>
                <a:solidFill>
                  <a:prstClr val="white"/>
                </a:solidFill>
                <a:effectLst/>
                <a:uLnTx/>
                <a:uFillTx/>
                <a:latin typeface="Calibri"/>
                <a:ea typeface="+mn-ea"/>
                <a:cs typeface="+mn-cs"/>
              </a:rPr>
              <a:t> Reduce the time nurses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spend searching for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equipment and give that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time back to patient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solidFill>
                <a:effectLst/>
                <a:uLnTx/>
                <a:uFillTx/>
                <a:latin typeface="Calibri"/>
                <a:ea typeface="+mn-ea"/>
                <a:cs typeface="+mn-cs"/>
              </a:rPr>
              <a:t>   care.</a:t>
            </a:r>
            <a:endParaRPr kumimoji="0" lang="en-US" sz="1600" b="0" i="0" u="none" strike="noStrike" kern="1200" cap="none" spc="0" normalizeH="0" baseline="0" noProof="0" dirty="0">
              <a:ln>
                <a:noFill/>
              </a:ln>
              <a:solidFill>
                <a:prstClr val="white">
                  <a:lumMod val="65000"/>
                </a:prstClr>
              </a:solidFill>
              <a:effectLst/>
              <a:uLnTx/>
              <a:uFillTx/>
              <a:latin typeface="Calibri"/>
              <a:ea typeface="+mn-ea"/>
              <a:cs typeface="+mn-cs"/>
            </a:endParaRPr>
          </a:p>
          <a:p>
            <a:pPr marL="0" lvl="0" indent="0">
              <a:spcBef>
                <a:spcPts val="300"/>
              </a:spcBef>
              <a:buClr>
                <a:srgbClr val="009999"/>
              </a:buClr>
              <a:buNone/>
            </a:pPr>
            <a:r>
              <a:rPr lang="en-US" sz="1600" dirty="0">
                <a:solidFill>
                  <a:srgbClr val="00B0F0"/>
                </a:solidFill>
              </a:rPr>
              <a:t>•</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Real-time asset tracking</a:t>
            </a:r>
            <a:b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b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   research has</a:t>
            </a:r>
            <a:br>
              <a:rPr lang="en-US" sz="1900" dirty="0">
                <a:solidFill>
                  <a:prstClr val="white">
                    <a:lumMod val="95000"/>
                  </a:prstClr>
                </a:solidFill>
                <a:latin typeface="Calibri"/>
              </a:rPr>
            </a:br>
            <a:r>
              <a:rPr lang="en-US" sz="1900" dirty="0">
                <a:solidFill>
                  <a:prstClr val="white">
                    <a:lumMod val="95000"/>
                  </a:prstClr>
                </a:solidFill>
                <a:latin typeface="Calibri"/>
              </a:rPr>
              <a:t>   </a:t>
            </a: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demonstrated potential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   for improving the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   efficiency of locating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   hospital equipment </a:t>
            </a:r>
          </a:p>
          <a:p>
            <a:pPr marL="0" marR="0" lvl="0" indent="0" algn="l" defTabSz="1218987" rtl="0" eaLnBrk="1" fontAlgn="auto" latinLnBrk="0" hangingPunct="1">
              <a:lnSpc>
                <a:spcPct val="90000"/>
              </a:lnSpc>
              <a:spcBef>
                <a:spcPts val="300"/>
              </a:spcBef>
              <a:spcAft>
                <a:spcPts val="0"/>
              </a:spcAft>
              <a:buClr>
                <a:srgbClr val="009999"/>
              </a:buClr>
              <a:buSzPct val="100000"/>
              <a:buFont typeface="Arial" pitchFamily="34" charset="0"/>
              <a:buNone/>
              <a:tabLst/>
              <a:defRPr/>
            </a:pPr>
            <a:r>
              <a:rPr kumimoji="0" lang="en-US" sz="1900" b="0" i="0" u="none" strike="noStrike" kern="1200" cap="none" spc="0" normalizeH="0" baseline="0" noProof="0" dirty="0">
                <a:ln>
                  <a:noFill/>
                </a:ln>
                <a:solidFill>
                  <a:prstClr val="white">
                    <a:lumMod val="95000"/>
                  </a:prstClr>
                </a:solidFill>
                <a:effectLst/>
                <a:uLnTx/>
                <a:uFillTx/>
                <a:latin typeface="Calibri"/>
                <a:ea typeface="+mn-ea"/>
                <a:cs typeface="+mn-cs"/>
              </a:rPr>
              <a:t>   </a:t>
            </a:r>
            <a:r>
              <a:rPr kumimoji="0" lang="en-US" sz="1800" b="0" i="0" u="none" strike="noStrike" kern="1200" cap="none" spc="0" normalizeH="0" baseline="0" noProof="0" dirty="0">
                <a:ln>
                  <a:noFill/>
                </a:ln>
                <a:solidFill>
                  <a:prstClr val="white">
                    <a:lumMod val="65000"/>
                  </a:prstClr>
                </a:solidFill>
                <a:effectLst/>
                <a:uLnTx/>
                <a:uFillTx/>
                <a:latin typeface="Calibri"/>
                <a:ea typeface="+mn-ea"/>
                <a:cs typeface="+mn-cs"/>
              </a:rPr>
              <a:t>(</a:t>
            </a:r>
            <a:r>
              <a:rPr kumimoji="0" lang="en-US" sz="1800" b="0" i="0" u="none" strike="noStrike" kern="1200" cap="none" spc="0" normalizeH="0" baseline="0" noProof="0" dirty="0" err="1">
                <a:ln>
                  <a:noFill/>
                </a:ln>
                <a:solidFill>
                  <a:prstClr val="white">
                    <a:lumMod val="65000"/>
                  </a:prstClr>
                </a:solidFill>
                <a:effectLst/>
                <a:uLnTx/>
                <a:uFillTx/>
                <a:latin typeface="Calibri"/>
                <a:ea typeface="+mn-ea"/>
                <a:cs typeface="+mn-cs"/>
              </a:rPr>
              <a:t>Qtait</a:t>
            </a:r>
            <a:r>
              <a:rPr kumimoji="0" lang="en-US" sz="1800" b="0" i="0" u="none" strike="noStrike" kern="1200" cap="none" spc="0" normalizeH="0" baseline="0" noProof="0" dirty="0">
                <a:ln>
                  <a:noFill/>
                </a:ln>
                <a:solidFill>
                  <a:prstClr val="white">
                    <a:lumMod val="65000"/>
                  </a:prstClr>
                </a:solidFill>
                <a:effectLst/>
                <a:uLnTx/>
                <a:uFillTx/>
                <a:latin typeface="Calibri"/>
                <a:ea typeface="+mn-ea"/>
                <a:cs typeface="+mn-cs"/>
              </a:rPr>
              <a:t>, 2025)</a:t>
            </a: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3" name="Rectangle 12">
            <a:extLst>
              <a:ext uri="{FF2B5EF4-FFF2-40B4-BE49-F238E27FC236}">
                <a16:creationId xmlns:a16="http://schemas.microsoft.com/office/drawing/2014/main" id="{F3FF7596-EABA-0CFD-778B-E81036853DBF}"/>
              </a:ext>
            </a:extLst>
          </p:cNvPr>
          <p:cNvSpPr/>
          <p:nvPr/>
        </p:nvSpPr>
        <p:spPr>
          <a:xfrm>
            <a:off x="1066800" y="1394738"/>
            <a:ext cx="10221684" cy="9144"/>
          </a:xfrm>
          <a:prstGeom prst="rect">
            <a:avLst/>
          </a:prstGeom>
          <a:solidFill>
            <a:srgbClr val="AFFFFF"/>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sp>
        <p:nvSpPr>
          <p:cNvPr id="16" name="Subtitle 4">
            <a:extLst>
              <a:ext uri="{FF2B5EF4-FFF2-40B4-BE49-F238E27FC236}">
                <a16:creationId xmlns:a16="http://schemas.microsoft.com/office/drawing/2014/main" id="{0F8C1443-9AA0-21D8-C726-DDB76D59CD5D}"/>
              </a:ext>
            </a:extLst>
          </p:cNvPr>
          <p:cNvSpPr txBox="1">
            <a:spLocks/>
          </p:cNvSpPr>
          <p:nvPr/>
        </p:nvSpPr>
        <p:spPr>
          <a:xfrm>
            <a:off x="942383" y="869077"/>
            <a:ext cx="8737600" cy="546878"/>
          </a:xfrm>
          <a:prstGeom prst="rect">
            <a:avLst/>
          </a:prstGeom>
        </p:spPr>
        <p:txBody>
          <a:bodyPr vert="horz" lIns="121899" tIns="60949" rIns="121899" bIns="60949" rtlCol="0">
            <a:normAutofit/>
          </a:bodyPr>
          <a:lstStyle>
            <a:lvl1pPr marL="0" indent="0" algn="l" defTabSz="1218987" rtl="0" eaLnBrk="1" latinLnBrk="0" hangingPunct="1">
              <a:lnSpc>
                <a:spcPct val="90000"/>
              </a:lnSpc>
              <a:spcBef>
                <a:spcPts val="0"/>
              </a:spcBef>
              <a:buClr>
                <a:schemeClr val="accent1"/>
              </a:buClr>
              <a:buSzPct val="100000"/>
              <a:buFont typeface="Arial" pitchFamily="34" charset="0"/>
              <a:buNone/>
              <a:defRPr sz="2800" kern="1200" cap="all" spc="200" baseline="0">
                <a:solidFill>
                  <a:schemeClr val="accent1"/>
                </a:solidFill>
                <a:latin typeface="+mn-lt"/>
                <a:ea typeface="+mn-ea"/>
                <a:cs typeface="+mn-cs"/>
              </a:defRPr>
            </a:lvl1pPr>
            <a:lvl2pPr marL="609493" indent="0" algn="ctr" defTabSz="1218987" rtl="0" eaLnBrk="1" latinLnBrk="0" hangingPunct="1">
              <a:lnSpc>
                <a:spcPct val="90000"/>
              </a:lnSpc>
              <a:spcBef>
                <a:spcPts val="800"/>
              </a:spcBef>
              <a:buClr>
                <a:schemeClr val="accent1"/>
              </a:buClr>
              <a:buSzPct val="80000"/>
              <a:buFont typeface="Arial" pitchFamily="34" charset="0"/>
              <a:buNone/>
              <a:defRPr sz="2400" kern="1200">
                <a:solidFill>
                  <a:schemeClr val="tx1">
                    <a:tint val="75000"/>
                  </a:schemeClr>
                </a:solidFill>
                <a:latin typeface="+mn-lt"/>
                <a:ea typeface="+mn-ea"/>
                <a:cs typeface="+mn-cs"/>
              </a:defRPr>
            </a:lvl2pPr>
            <a:lvl3pPr marL="1218987"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3pPr>
            <a:lvl4pPr marL="1828480"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4pPr>
            <a:lvl5pPr marL="2437973"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5pPr>
            <a:lvl6pPr marL="3047467"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6pPr>
            <a:lvl7pPr marL="3656960" indent="0" algn="ctr" defTabSz="1218987" rtl="0" eaLnBrk="1" latinLnBrk="0" hangingPunct="1">
              <a:lnSpc>
                <a:spcPct val="90000"/>
              </a:lnSpc>
              <a:spcBef>
                <a:spcPts val="800"/>
              </a:spcBef>
              <a:buClr>
                <a:schemeClr val="accent1"/>
              </a:buClr>
              <a:buSzPct val="80000"/>
              <a:buFont typeface="Arial" pitchFamily="34" charset="0"/>
              <a:buNone/>
              <a:defRPr sz="2000" kern="1200">
                <a:solidFill>
                  <a:schemeClr val="tx1">
                    <a:tint val="75000"/>
                  </a:schemeClr>
                </a:solidFill>
                <a:latin typeface="+mn-lt"/>
                <a:ea typeface="+mn-ea"/>
                <a:cs typeface="+mn-cs"/>
              </a:defRPr>
            </a:lvl7pPr>
            <a:lvl8pPr marL="4266453" indent="0" algn="ctr" defTabSz="1218987" rtl="0" eaLnBrk="1" latinLnBrk="0" hangingPunct="1">
              <a:lnSpc>
                <a:spcPct val="90000"/>
              </a:lnSpc>
              <a:spcBef>
                <a:spcPts val="800"/>
              </a:spcBef>
              <a:buClr>
                <a:schemeClr val="accent1"/>
              </a:buClr>
              <a:buSzPct val="80000"/>
              <a:buFont typeface="Arial" pitchFamily="34" charset="0"/>
              <a:buNone/>
              <a:defRPr sz="2000" kern="1200" baseline="0">
                <a:solidFill>
                  <a:schemeClr val="tx1">
                    <a:tint val="75000"/>
                  </a:schemeClr>
                </a:solidFill>
                <a:latin typeface="+mn-lt"/>
                <a:ea typeface="+mn-ea"/>
                <a:cs typeface="+mn-cs"/>
              </a:defRPr>
            </a:lvl8pPr>
            <a:lvl9pPr marL="4875947" indent="0" algn="ctr" defTabSz="1218987" rtl="0" eaLnBrk="1" latinLnBrk="0" hangingPunct="1">
              <a:lnSpc>
                <a:spcPct val="90000"/>
              </a:lnSpc>
              <a:spcBef>
                <a:spcPts val="800"/>
              </a:spcBef>
              <a:buClr>
                <a:schemeClr val="accent1"/>
              </a:buClr>
              <a:buSzPct val="80000"/>
              <a:buFont typeface="Arial" pitchFamily="34" charset="0"/>
              <a:buNone/>
              <a:defRPr sz="2000" kern="1200" baseline="0">
                <a:solidFill>
                  <a:schemeClr val="tx1">
                    <a:tint val="75000"/>
                  </a:schemeClr>
                </a:solidFill>
                <a:latin typeface="+mn-lt"/>
                <a:ea typeface="+mn-ea"/>
                <a:cs typeface="+mn-cs"/>
              </a:defRPr>
            </a:lvl9pPr>
          </a:lstStyle>
          <a:p>
            <a:pPr marL="0" marR="0" lvl="0" indent="0" algn="l" defTabSz="1218987" rtl="0" eaLnBrk="1" fontAlgn="auto" latinLnBrk="0" hangingPunct="1">
              <a:lnSpc>
                <a:spcPct val="90000"/>
              </a:lnSpc>
              <a:spcBef>
                <a:spcPts val="0"/>
              </a:spcBef>
              <a:spcAft>
                <a:spcPts val="0"/>
              </a:spcAft>
              <a:buClr>
                <a:srgbClr val="009999"/>
              </a:buClr>
              <a:buSzPct val="100000"/>
              <a:buFont typeface="Arial" pitchFamily="34" charset="0"/>
              <a:buNone/>
              <a:tabLst/>
              <a:defRPr/>
            </a:pPr>
            <a:r>
              <a:rPr kumimoji="0" lang="en-US" sz="2000" b="0" i="0" u="none" strike="noStrike" kern="1200" cap="none" spc="200" normalizeH="0" baseline="0" noProof="0" dirty="0">
                <a:ln>
                  <a:noFill/>
                </a:ln>
                <a:solidFill>
                  <a:srgbClr val="00B0F0"/>
                </a:solidFill>
                <a:effectLst/>
                <a:uLnTx/>
                <a:uFillTx/>
                <a:latin typeface="Calibri"/>
                <a:ea typeface="+mn-ea"/>
                <a:cs typeface="+mn-cs"/>
              </a:rPr>
              <a:t>Medical Equipment Management and Tracking</a:t>
            </a:r>
          </a:p>
        </p:txBody>
      </p:sp>
      <p:pic>
        <p:nvPicPr>
          <p:cNvPr id="2" name="Slide 7">
            <a:hlinkClick r:id="" action="ppaction://media"/>
            <a:extLst>
              <a:ext uri="{FF2B5EF4-FFF2-40B4-BE49-F238E27FC236}">
                <a16:creationId xmlns:a16="http://schemas.microsoft.com/office/drawing/2014/main" id="{585F711C-8A02-1496-A56A-B4FA1580E45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9173" y="152397"/>
            <a:ext cx="487363" cy="487363"/>
          </a:xfrm>
          <a:prstGeom prst="rect">
            <a:avLst/>
          </a:prstGeom>
        </p:spPr>
      </p:pic>
    </p:spTree>
    <p:extLst>
      <p:ext uri="{BB962C8B-B14F-4D97-AF65-F5344CB8AC3E}">
        <p14:creationId xmlns:p14="http://schemas.microsoft.com/office/powerpoint/2010/main" val="1504145304"/>
      </p:ext>
    </p:extLst>
  </p:cSld>
  <p:clrMapOvr>
    <a:masterClrMapping/>
  </p:clrMapOvr>
  <mc:AlternateContent xmlns:mc="http://schemas.openxmlformats.org/markup-compatibility/2006" xmlns:p14="http://schemas.microsoft.com/office/powerpoint/2010/main">
    <mc:Choice Requires="p14">
      <p:transition spd="med" p14:dur="700" advTm="35950">
        <p:fade/>
      </p:transition>
    </mc:Choice>
    <mc:Fallback xmlns="">
      <p:transition spd="med" advTm="3595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95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C342D-115D-1BD2-88DD-53BED4FAAD6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5BEB6B93-E85E-1F40-ED8B-F19E1A5E94C7}"/>
              </a:ext>
            </a:extLst>
          </p:cNvPr>
          <p:cNvSpPr txBox="1"/>
          <p:nvPr/>
        </p:nvSpPr>
        <p:spPr>
          <a:xfrm>
            <a:off x="5387909" y="2010448"/>
            <a:ext cx="5899851" cy="3323987"/>
          </a:xfrm>
          <a:prstGeom prst="rect">
            <a:avLst/>
          </a:prstGeom>
          <a:noFill/>
        </p:spPr>
        <p:txBody>
          <a:bodyPr wrap="square" rtlCol="0">
            <a:spAutoFit/>
          </a:bodyPr>
          <a:lstStyle/>
          <a:p>
            <a:r>
              <a:rPr lang="en-US" sz="3000" dirty="0"/>
              <a:t>Nurses spend significant amounts</a:t>
            </a:r>
          </a:p>
          <a:p>
            <a:r>
              <a:rPr lang="en-US" sz="3000" dirty="0"/>
              <a:t>of time manually tracking medical equipment, which is an operational inefficiency that disrupts clinical workflows, reduces direct patient care time, and can contribute to unnecessary spendings </a:t>
            </a:r>
            <a:r>
              <a:rPr lang="en-US" sz="3000" dirty="0">
                <a:solidFill>
                  <a:schemeClr val="bg1">
                    <a:lumMod val="50000"/>
                    <a:lumOff val="50000"/>
                  </a:schemeClr>
                </a:solidFill>
              </a:rPr>
              <a:t>(Qtait, 2025)</a:t>
            </a:r>
            <a:r>
              <a:rPr lang="en-US" sz="3000" dirty="0"/>
              <a:t>.</a:t>
            </a:r>
          </a:p>
        </p:txBody>
      </p:sp>
      <p:pic>
        <p:nvPicPr>
          <p:cNvPr id="14" name="Content Placeholder 17">
            <a:extLst>
              <a:ext uri="{FF2B5EF4-FFF2-40B4-BE49-F238E27FC236}">
                <a16:creationId xmlns:a16="http://schemas.microsoft.com/office/drawing/2014/main" id="{75498B77-C35B-9400-2098-6E7AA435F52C}"/>
              </a:ext>
            </a:extLst>
          </p:cNvPr>
          <p:cNvPicPr>
            <a:picLocks noChangeAspect="1"/>
          </p:cNvPicPr>
          <p:nvPr/>
        </p:nvPicPr>
        <p:blipFill>
          <a:blip r:embed="rId4">
            <a:extLst>
              <a:ext uri="{28A0092B-C50C-407E-A947-70E740481C1C}">
                <a14:useLocalDpi xmlns:a14="http://schemas.microsoft.com/office/drawing/2010/main" val="0"/>
              </a:ext>
            </a:extLst>
          </a:blip>
          <a:srcRect t="1261" b="1261"/>
          <a:stretch/>
        </p:blipFill>
        <p:spPr>
          <a:xfrm>
            <a:off x="1078003" y="1670614"/>
            <a:ext cx="3705224" cy="4465320"/>
          </a:xfrm>
          <a:prstGeom prst="rect">
            <a:avLst/>
          </a:prstGeom>
          <a:noFill/>
        </p:spPr>
      </p:pic>
      <p:sp>
        <p:nvSpPr>
          <p:cNvPr id="5" name="Rectangle 4">
            <a:extLst>
              <a:ext uri="{FF2B5EF4-FFF2-40B4-BE49-F238E27FC236}">
                <a16:creationId xmlns:a16="http://schemas.microsoft.com/office/drawing/2014/main" id="{B96EC553-D8FE-0736-0117-3F1AF27D7728}"/>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7" name="Title 2">
            <a:extLst>
              <a:ext uri="{FF2B5EF4-FFF2-40B4-BE49-F238E27FC236}">
                <a16:creationId xmlns:a16="http://schemas.microsoft.com/office/drawing/2014/main" id="{9E5D9F27-68B5-CB51-9603-33E7AD34593B}"/>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Problem Statement</a:t>
            </a:r>
          </a:p>
        </p:txBody>
      </p:sp>
      <p:pic>
        <p:nvPicPr>
          <p:cNvPr id="3" name="Slide 8">
            <a:hlinkClick r:id="" action="ppaction://media"/>
            <a:extLst>
              <a:ext uri="{FF2B5EF4-FFF2-40B4-BE49-F238E27FC236}">
                <a16:creationId xmlns:a16="http://schemas.microsoft.com/office/drawing/2014/main" id="{46BB9437-933A-543D-9171-1DE4EB3382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9173" y="152397"/>
            <a:ext cx="487363" cy="487363"/>
          </a:xfrm>
          <a:prstGeom prst="rect">
            <a:avLst/>
          </a:prstGeom>
        </p:spPr>
      </p:pic>
    </p:spTree>
    <p:extLst>
      <p:ext uri="{BB962C8B-B14F-4D97-AF65-F5344CB8AC3E}">
        <p14:creationId xmlns:p14="http://schemas.microsoft.com/office/powerpoint/2010/main" val="3988044704"/>
      </p:ext>
    </p:extLst>
  </p:cSld>
  <p:clrMapOvr>
    <a:masterClrMapping/>
  </p:clrMapOvr>
  <mc:AlternateContent xmlns:mc="http://schemas.openxmlformats.org/markup-compatibility/2006" xmlns:p14="http://schemas.microsoft.com/office/powerpoint/2010/main">
    <mc:Choice Requires="p14">
      <p:transition spd="med" p14:dur="700" advTm="22324">
        <p:fade/>
      </p:transition>
    </mc:Choice>
    <mc:Fallback xmlns="">
      <p:transition spd="med" advTm="2232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32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4F353-F9DF-2E6D-2382-9E54D0FBC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12C2C-CBDA-BC3B-0BC1-1E9C5C87230B}"/>
              </a:ext>
            </a:extLst>
          </p:cNvPr>
          <p:cNvSpPr>
            <a:spLocks noGrp="1"/>
          </p:cNvSpPr>
          <p:nvPr>
            <p:ph type="ctrTitle"/>
          </p:nvPr>
        </p:nvSpPr>
        <p:spPr>
          <a:xfrm>
            <a:off x="1662924" y="1856785"/>
            <a:ext cx="8737600" cy="2230019"/>
          </a:xfrm>
        </p:spPr>
        <p:txBody>
          <a:bodyPr>
            <a:noAutofit/>
          </a:bodyPr>
          <a:lstStyle/>
          <a:p>
            <a:pPr algn="ctr">
              <a:lnSpc>
                <a:spcPct val="100000"/>
              </a:lnSpc>
            </a:pPr>
            <a:r>
              <a:rPr lang="en-US" sz="6500" dirty="0"/>
              <a:t>Technology Selection</a:t>
            </a:r>
            <a:br>
              <a:rPr lang="en-US" sz="6500" dirty="0"/>
            </a:br>
            <a:r>
              <a:rPr lang="en-US" sz="6500" dirty="0"/>
              <a:t>and Design</a:t>
            </a:r>
          </a:p>
        </p:txBody>
      </p:sp>
      <p:pic>
        <p:nvPicPr>
          <p:cNvPr id="3" name="Slide 9">
            <a:hlinkClick r:id="" action="ppaction://media"/>
            <a:extLst>
              <a:ext uri="{FF2B5EF4-FFF2-40B4-BE49-F238E27FC236}">
                <a16:creationId xmlns:a16="http://schemas.microsoft.com/office/drawing/2014/main" id="{C1DD726F-7ABA-8C07-9FFD-60F1CC46A04B}"/>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40" y="143931"/>
            <a:ext cx="487363" cy="487363"/>
          </a:xfrm>
          <a:prstGeom prst="rect">
            <a:avLst/>
          </a:prstGeom>
        </p:spPr>
      </p:pic>
    </p:spTree>
    <p:extLst>
      <p:ext uri="{BB962C8B-B14F-4D97-AF65-F5344CB8AC3E}">
        <p14:creationId xmlns:p14="http://schemas.microsoft.com/office/powerpoint/2010/main" val="4024968100"/>
      </p:ext>
    </p:extLst>
  </p:cSld>
  <p:clrMapOvr>
    <a:masterClrMapping/>
  </p:clrMapOvr>
  <mc:AlternateContent xmlns:mc="http://schemas.openxmlformats.org/markup-compatibility/2006" xmlns:p14="http://schemas.microsoft.com/office/powerpoint/2010/main">
    <mc:Choice Requires="p14">
      <p:transition spd="med" p14:dur="700" advTm="11255">
        <p:fade/>
      </p:transition>
    </mc:Choice>
    <mc:Fallback xmlns="">
      <p:transition spd="med" advTm="1125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25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DA361-FA06-FCEF-DF01-32B2CB68905A}"/>
            </a:ext>
          </a:extLst>
        </p:cNvPr>
        <p:cNvGrpSpPr/>
        <p:nvPr/>
      </p:nvGrpSpPr>
      <p:grpSpPr>
        <a:xfrm>
          <a:off x="0" y="0"/>
          <a:ext cx="0" cy="0"/>
          <a:chOff x="0" y="0"/>
          <a:chExt cx="0" cy="0"/>
        </a:xfrm>
      </p:grpSpPr>
      <p:sp>
        <p:nvSpPr>
          <p:cNvPr id="16" name="Title 2">
            <a:extLst>
              <a:ext uri="{FF2B5EF4-FFF2-40B4-BE49-F238E27FC236}">
                <a16:creationId xmlns:a16="http://schemas.microsoft.com/office/drawing/2014/main" id="{5C83B6C0-BA05-9B63-2C48-3E7D15DAA64C}"/>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Alternative Technology Approaches</a:t>
            </a:r>
          </a:p>
        </p:txBody>
      </p:sp>
      <p:sp>
        <p:nvSpPr>
          <p:cNvPr id="20" name="Rectangle 19">
            <a:extLst>
              <a:ext uri="{FF2B5EF4-FFF2-40B4-BE49-F238E27FC236}">
                <a16:creationId xmlns:a16="http://schemas.microsoft.com/office/drawing/2014/main" id="{CE0AE599-4722-0B7F-5EAE-786E9DE22426}"/>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0B0F0"/>
              </a:solidFill>
              <a:effectLst/>
              <a:uLnTx/>
              <a:uFillTx/>
              <a:latin typeface="Calibri"/>
              <a:ea typeface="+mn-ea"/>
              <a:cs typeface="+mn-cs"/>
            </a:endParaRPr>
          </a:p>
        </p:txBody>
      </p:sp>
      <p:sp>
        <p:nvSpPr>
          <p:cNvPr id="5" name="TextBox 4">
            <a:extLst>
              <a:ext uri="{FF2B5EF4-FFF2-40B4-BE49-F238E27FC236}">
                <a16:creationId xmlns:a16="http://schemas.microsoft.com/office/drawing/2014/main" id="{ABBE8AB0-A688-59C6-674C-2EB4709028BC}"/>
              </a:ext>
            </a:extLst>
          </p:cNvPr>
          <p:cNvSpPr txBox="1"/>
          <p:nvPr/>
        </p:nvSpPr>
        <p:spPr>
          <a:xfrm>
            <a:off x="6258562" y="1239223"/>
            <a:ext cx="5029199" cy="5391219"/>
          </a:xfrm>
          <a:prstGeom prst="rect">
            <a:avLst/>
          </a:prstGeom>
          <a:noFill/>
        </p:spPr>
        <p:txBody>
          <a:bodyPr wrap="square" rtlCol="0">
            <a:spAutoFit/>
          </a:bodyPr>
          <a:lstStyle/>
          <a:p>
            <a:pPr lvl="0">
              <a:spcBef>
                <a:spcPts val="150"/>
              </a:spcBef>
              <a:spcAft>
                <a:spcPts val="600"/>
              </a:spcAft>
              <a:defRPr/>
            </a:pPr>
            <a:r>
              <a:rPr lang="en-US" sz="2200" b="1" dirty="0">
                <a:solidFill>
                  <a:prstClr val="white"/>
                </a:solidFill>
              </a:rPr>
              <a:t>IoT Ecosystem</a:t>
            </a:r>
          </a:p>
          <a:p>
            <a:pPr lvl="0">
              <a:spcBef>
                <a:spcPts val="150"/>
              </a:spcBef>
              <a:spcAft>
                <a:spcPts val="600"/>
              </a:spcAft>
              <a:defRPr/>
            </a:pPr>
            <a:r>
              <a:rPr lang="en-US" sz="1700" b="1" dirty="0">
                <a:solidFill>
                  <a:srgbClr val="00B0F0"/>
                </a:solidFill>
              </a:rPr>
              <a:t>Hardware</a:t>
            </a:r>
            <a:br>
              <a:rPr lang="en-US" sz="1700" b="1" dirty="0">
                <a:solidFill>
                  <a:srgbClr val="00B0F0"/>
                </a:solidFill>
              </a:rPr>
            </a:br>
            <a:r>
              <a:rPr lang="en-US" sz="1700" dirty="0">
                <a:solidFill>
                  <a:prstClr val="white"/>
                </a:solidFill>
              </a:rPr>
              <a:t>Ceiling gateways + Active Ultra-Wideband (UWB) asset tags (with Clean, Dirty, and Maintenance buttons)</a:t>
            </a:r>
          </a:p>
          <a:p>
            <a:pPr lvl="0">
              <a:spcBef>
                <a:spcPts val="150"/>
              </a:spcBef>
              <a:spcAft>
                <a:spcPts val="600"/>
              </a:spcAft>
              <a:defRPr/>
            </a:pPr>
            <a:r>
              <a:rPr lang="en-US" sz="1700" b="1" dirty="0">
                <a:solidFill>
                  <a:srgbClr val="00B0F0"/>
                </a:solidFill>
              </a:rPr>
              <a:t>Network</a:t>
            </a:r>
            <a:br>
              <a:rPr lang="en-US" sz="1700" b="1" dirty="0">
                <a:solidFill>
                  <a:srgbClr val="00B0F0"/>
                </a:solidFill>
              </a:rPr>
            </a:br>
            <a:r>
              <a:rPr lang="en-US" sz="1700" dirty="0">
                <a:solidFill>
                  <a:prstClr val="white"/>
                </a:solidFill>
              </a:rPr>
              <a:t>Encrypted Wi-Fi VLAN streaming to local DB</a:t>
            </a:r>
          </a:p>
          <a:p>
            <a:pPr lvl="0">
              <a:spcBef>
                <a:spcPts val="150"/>
              </a:spcBef>
              <a:spcAft>
                <a:spcPts val="600"/>
              </a:spcAft>
              <a:defRPr/>
            </a:pPr>
            <a:r>
              <a:rPr lang="en-US" sz="1700" b="1" dirty="0">
                <a:solidFill>
                  <a:srgbClr val="00B0F0"/>
                </a:solidFill>
              </a:rPr>
              <a:t>Workflow</a:t>
            </a:r>
            <a:br>
              <a:rPr lang="en-US" sz="1700" b="1" dirty="0">
                <a:solidFill>
                  <a:srgbClr val="00B0F0"/>
                </a:solidFill>
              </a:rPr>
            </a:br>
            <a:r>
              <a:rPr lang="en-US" sz="1700" dirty="0">
                <a:solidFill>
                  <a:prstClr val="white"/>
                </a:solidFill>
              </a:rPr>
              <a:t>Automated room-level tracking that pairs UWB assets with nurse room assignments (Zero manual scanning)</a:t>
            </a:r>
          </a:p>
          <a:p>
            <a:pPr lvl="0">
              <a:spcBef>
                <a:spcPts val="150"/>
              </a:spcBef>
              <a:spcAft>
                <a:spcPts val="600"/>
              </a:spcAft>
              <a:defRPr/>
            </a:pPr>
            <a:r>
              <a:rPr lang="en-US" sz="1700" b="1" dirty="0">
                <a:solidFill>
                  <a:srgbClr val="00B0F0"/>
                </a:solidFill>
              </a:rPr>
              <a:t>Software</a:t>
            </a:r>
            <a:br>
              <a:rPr lang="en-US" sz="1700" b="1" dirty="0">
                <a:solidFill>
                  <a:srgbClr val="00B0F0"/>
                </a:solidFill>
              </a:rPr>
            </a:br>
            <a:r>
              <a:rPr lang="en-US" sz="1700" dirty="0">
                <a:solidFill>
                  <a:prstClr val="white"/>
                </a:solidFill>
              </a:rPr>
              <a:t>Real-time visual floor map, inventory alerts, geofencing to alert if equipment leaves the facility</a:t>
            </a:r>
          </a:p>
          <a:p>
            <a:pPr lvl="0">
              <a:spcBef>
                <a:spcPts val="150"/>
              </a:spcBef>
              <a:spcAft>
                <a:spcPts val="600"/>
              </a:spcAft>
              <a:defRPr/>
            </a:pPr>
            <a:r>
              <a:rPr lang="en-US" sz="1700" b="1" dirty="0">
                <a:solidFill>
                  <a:srgbClr val="00B0F0"/>
                </a:solidFill>
              </a:rPr>
              <a:t>Access Control:</a:t>
            </a:r>
            <a:br>
              <a:rPr lang="en-US" sz="1700" b="1" dirty="0">
                <a:solidFill>
                  <a:srgbClr val="00B0F0"/>
                </a:solidFill>
              </a:rPr>
            </a:br>
            <a:r>
              <a:rPr lang="en-US" sz="1700" b="1" dirty="0">
                <a:solidFill>
                  <a:srgbClr val="00B0F0"/>
                </a:solidFill>
              </a:rPr>
              <a:t>• </a:t>
            </a:r>
            <a:r>
              <a:rPr lang="en-US" sz="1700" dirty="0">
                <a:solidFill>
                  <a:prstClr val="white"/>
                </a:solidFill>
              </a:rPr>
              <a:t>Nurses: View live asset maps &amp; toggle hygiene states</a:t>
            </a:r>
            <a:br>
              <a:rPr lang="en-US" sz="1700" dirty="0">
                <a:solidFill>
                  <a:prstClr val="white"/>
                </a:solidFill>
              </a:rPr>
            </a:br>
            <a:r>
              <a:rPr lang="en-US" sz="1700" b="1" dirty="0">
                <a:solidFill>
                  <a:srgbClr val="00B0F0"/>
                </a:solidFill>
              </a:rPr>
              <a:t>• </a:t>
            </a:r>
            <a:r>
              <a:rPr lang="en-US" sz="1700" dirty="0">
                <a:solidFill>
                  <a:prstClr val="white"/>
                </a:solidFill>
              </a:rPr>
              <a:t>Charge Nurses: Manage stock thresholds &amp; </a:t>
            </a:r>
            <a:br>
              <a:rPr lang="en-US" sz="1700" dirty="0">
                <a:solidFill>
                  <a:prstClr val="white"/>
                </a:solidFill>
              </a:rPr>
            </a:br>
            <a:r>
              <a:rPr lang="en-US" sz="1700" dirty="0">
                <a:solidFill>
                  <a:prstClr val="white"/>
                </a:solidFill>
              </a:rPr>
              <a:t>   maintenance escalations</a:t>
            </a:r>
            <a:br>
              <a:rPr lang="en-US" sz="1700" dirty="0">
                <a:solidFill>
                  <a:prstClr val="white"/>
                </a:solidFill>
              </a:rPr>
            </a:br>
            <a:r>
              <a:rPr lang="en-US" sz="1700" b="1" dirty="0">
                <a:solidFill>
                  <a:srgbClr val="00B0F0"/>
                </a:solidFill>
              </a:rPr>
              <a:t>• </a:t>
            </a:r>
            <a:r>
              <a:rPr lang="en-US" sz="1700" dirty="0">
                <a:solidFill>
                  <a:prstClr val="white"/>
                </a:solidFill>
              </a:rPr>
              <a:t>Admins: Gateway, network, and permission </a:t>
            </a:r>
            <a:br>
              <a:rPr lang="en-US" sz="1700" dirty="0">
                <a:solidFill>
                  <a:prstClr val="white"/>
                </a:solidFill>
              </a:rPr>
            </a:br>
            <a:r>
              <a:rPr lang="en-US" sz="1700" dirty="0">
                <a:solidFill>
                  <a:prstClr val="white"/>
                </a:solidFill>
              </a:rPr>
              <a:t>   configuration</a:t>
            </a:r>
            <a:endParaRPr lang="en-US" sz="1550" dirty="0">
              <a:solidFill>
                <a:prstClr val="white"/>
              </a:solidFill>
            </a:endParaRPr>
          </a:p>
        </p:txBody>
      </p:sp>
      <p:sp>
        <p:nvSpPr>
          <p:cNvPr id="14" name="TextBox 13">
            <a:extLst>
              <a:ext uri="{FF2B5EF4-FFF2-40B4-BE49-F238E27FC236}">
                <a16:creationId xmlns:a16="http://schemas.microsoft.com/office/drawing/2014/main" id="{6EB4D35F-9942-87B0-EE74-100315440957}"/>
              </a:ext>
            </a:extLst>
          </p:cNvPr>
          <p:cNvSpPr txBox="1"/>
          <p:nvPr/>
        </p:nvSpPr>
        <p:spPr>
          <a:xfrm>
            <a:off x="986518" y="1239223"/>
            <a:ext cx="5029199" cy="4765407"/>
          </a:xfrm>
          <a:prstGeom prst="rect">
            <a:avLst/>
          </a:prstGeom>
          <a:noFill/>
        </p:spPr>
        <p:txBody>
          <a:bodyPr wrap="square" rtlCol="0">
            <a:spAutoFit/>
          </a:bodyPr>
          <a:lstStyle/>
          <a:p>
            <a:pPr lvl="0">
              <a:spcBef>
                <a:spcPts val="150"/>
              </a:spcBef>
              <a:spcAft>
                <a:spcPts val="600"/>
              </a:spcAft>
              <a:defRPr/>
            </a:pPr>
            <a:r>
              <a:rPr lang="en-US" sz="2200" b="1" dirty="0">
                <a:solidFill>
                  <a:prstClr val="white"/>
                </a:solidFill>
              </a:rPr>
              <a:t>Checkout System</a:t>
            </a:r>
            <a:endParaRPr lang="en-US" sz="2200" b="1" dirty="0">
              <a:solidFill>
                <a:srgbClr val="00B0F0"/>
              </a:solidFill>
            </a:endParaRPr>
          </a:p>
          <a:p>
            <a:pPr lvl="0">
              <a:spcBef>
                <a:spcPts val="150"/>
              </a:spcBef>
              <a:defRPr/>
            </a:pPr>
            <a:r>
              <a:rPr lang="en-US" sz="1700" b="1" dirty="0">
                <a:solidFill>
                  <a:srgbClr val="00B0F0"/>
                </a:solidFill>
              </a:rPr>
              <a:t>Hardware</a:t>
            </a:r>
          </a:p>
          <a:p>
            <a:pPr lvl="0">
              <a:spcAft>
                <a:spcPts val="600"/>
              </a:spcAft>
              <a:defRPr/>
            </a:pPr>
            <a:r>
              <a:rPr lang="en-US" sz="1700" dirty="0">
                <a:solidFill>
                  <a:prstClr val="white"/>
                </a:solidFill>
              </a:rPr>
              <a:t>Wall-mounted kiosks with RF scanners + Passive RFID asset tags</a:t>
            </a:r>
          </a:p>
          <a:p>
            <a:pPr lvl="0">
              <a:spcAft>
                <a:spcPts val="600"/>
              </a:spcAft>
              <a:defRPr/>
            </a:pPr>
            <a:r>
              <a:rPr lang="en-US" sz="1700" b="1" dirty="0">
                <a:solidFill>
                  <a:srgbClr val="00B0F0"/>
                </a:solidFill>
              </a:rPr>
              <a:t>Network</a:t>
            </a:r>
            <a:br>
              <a:rPr lang="en-US" sz="1700" b="1" dirty="0">
                <a:solidFill>
                  <a:srgbClr val="00B0F0"/>
                </a:solidFill>
              </a:rPr>
            </a:br>
            <a:r>
              <a:rPr lang="en-US" sz="1700" dirty="0">
                <a:solidFill>
                  <a:prstClr val="white"/>
                </a:solidFill>
              </a:rPr>
              <a:t>Logs transactions on a local DB over an </a:t>
            </a:r>
            <a:r>
              <a:rPr lang="en-US" sz="1700" dirty="0">
                <a:solidFill>
                  <a:prstClr val="white">
                    <a:lumMod val="95000"/>
                  </a:prstClr>
                </a:solidFill>
              </a:rPr>
              <a:t>isolated </a:t>
            </a:r>
            <a:r>
              <a:rPr lang="en-US" sz="1700" dirty="0">
                <a:solidFill>
                  <a:prstClr val="white"/>
                </a:solidFill>
              </a:rPr>
              <a:t>encrypted hospital LAN</a:t>
            </a:r>
          </a:p>
          <a:p>
            <a:pPr lvl="0">
              <a:spcAft>
                <a:spcPts val="600"/>
              </a:spcAft>
              <a:defRPr/>
            </a:pPr>
            <a:r>
              <a:rPr lang="en-US" sz="1700" b="1" dirty="0">
                <a:solidFill>
                  <a:srgbClr val="00B0F0"/>
                </a:solidFill>
              </a:rPr>
              <a:t>Workflow</a:t>
            </a:r>
            <a:br>
              <a:rPr lang="en-US" sz="1700" b="1" dirty="0">
                <a:solidFill>
                  <a:srgbClr val="00B0F0"/>
                </a:solidFill>
              </a:rPr>
            </a:br>
            <a:r>
              <a:rPr lang="en-US" sz="1700" dirty="0">
                <a:solidFill>
                  <a:prstClr val="white"/>
                </a:solidFill>
              </a:rPr>
              <a:t>Two-step scan (Staff Badge + Asset Tag )</a:t>
            </a:r>
          </a:p>
          <a:p>
            <a:pPr lvl="0">
              <a:spcAft>
                <a:spcPts val="600"/>
              </a:spcAft>
              <a:defRPr/>
            </a:pPr>
            <a:r>
              <a:rPr lang="en-US" sz="1700" b="1" dirty="0">
                <a:solidFill>
                  <a:srgbClr val="00B0F0"/>
                </a:solidFill>
              </a:rPr>
              <a:t>Software</a:t>
            </a:r>
            <a:br>
              <a:rPr lang="en-US" sz="1700" b="1" dirty="0">
                <a:solidFill>
                  <a:srgbClr val="00B0F0"/>
                </a:solidFill>
              </a:rPr>
            </a:br>
            <a:r>
              <a:rPr lang="en-US" sz="1700" dirty="0">
                <a:solidFill>
                  <a:prstClr val="white"/>
                </a:solidFill>
              </a:rPr>
              <a:t>Windows GUI (Inventory count, active checkouts, logs)</a:t>
            </a:r>
          </a:p>
          <a:p>
            <a:pPr lvl="0">
              <a:spcAft>
                <a:spcPts val="600"/>
              </a:spcAft>
              <a:defRPr/>
            </a:pPr>
            <a:r>
              <a:rPr lang="en-US" sz="1700" b="1" dirty="0">
                <a:solidFill>
                  <a:srgbClr val="00B0F0"/>
                </a:solidFill>
              </a:rPr>
              <a:t>Access Control</a:t>
            </a:r>
            <a:br>
              <a:rPr lang="en-US" sz="1700" b="1" dirty="0">
                <a:solidFill>
                  <a:srgbClr val="00B0F0"/>
                </a:solidFill>
              </a:rPr>
            </a:br>
            <a:r>
              <a:rPr lang="en-US" sz="1700" b="1" dirty="0">
                <a:solidFill>
                  <a:srgbClr val="00B0F0"/>
                </a:solidFill>
              </a:rPr>
              <a:t> • </a:t>
            </a:r>
            <a:r>
              <a:rPr lang="en-US" sz="1700" dirty="0">
                <a:solidFill>
                  <a:prstClr val="white"/>
                </a:solidFill>
              </a:rPr>
              <a:t>Nurses: Read availability / write check-ins &amp; transfers</a:t>
            </a:r>
            <a:br>
              <a:rPr lang="en-US" sz="1700" dirty="0">
                <a:solidFill>
                  <a:prstClr val="white"/>
                </a:solidFill>
              </a:rPr>
            </a:br>
            <a:r>
              <a:rPr lang="en-US" sz="1700" b="1" dirty="0">
                <a:solidFill>
                  <a:srgbClr val="00B0F0"/>
                </a:solidFill>
              </a:rPr>
              <a:t> • </a:t>
            </a:r>
            <a:r>
              <a:rPr lang="en-US" sz="1700" dirty="0">
                <a:solidFill>
                  <a:prstClr val="white"/>
                </a:solidFill>
              </a:rPr>
              <a:t>Charge Nurses: Add assets, clear forgotten </a:t>
            </a:r>
            <a:br>
              <a:rPr lang="en-US" sz="1700" dirty="0">
                <a:solidFill>
                  <a:prstClr val="white"/>
                </a:solidFill>
              </a:rPr>
            </a:br>
            <a:r>
              <a:rPr lang="en-US" sz="1700" dirty="0">
                <a:solidFill>
                  <a:prstClr val="white"/>
                </a:solidFill>
              </a:rPr>
              <a:t>    checkouts, mark missing or damaged assets</a:t>
            </a:r>
            <a:br>
              <a:rPr lang="en-US" sz="1700" dirty="0">
                <a:solidFill>
                  <a:prstClr val="white"/>
                </a:solidFill>
              </a:rPr>
            </a:br>
            <a:r>
              <a:rPr lang="en-US" sz="1700" b="1" dirty="0">
                <a:solidFill>
                  <a:srgbClr val="00B0F0"/>
                </a:solidFill>
              </a:rPr>
              <a:t> • </a:t>
            </a:r>
            <a:r>
              <a:rPr lang="en-US" sz="1700" dirty="0">
                <a:solidFill>
                  <a:prstClr val="white"/>
                </a:solidFill>
              </a:rPr>
              <a:t>Admins: Full permission &amp; log management</a:t>
            </a:r>
          </a:p>
        </p:txBody>
      </p:sp>
      <p:pic>
        <p:nvPicPr>
          <p:cNvPr id="2" name="Slide 10">
            <a:hlinkClick r:id="" action="ppaction://media"/>
            <a:extLst>
              <a:ext uri="{FF2B5EF4-FFF2-40B4-BE49-F238E27FC236}">
                <a16:creationId xmlns:a16="http://schemas.microsoft.com/office/drawing/2014/main" id="{BCCBED8F-21B2-E8B2-7320-C5D031BFB40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9" y="149011"/>
            <a:ext cx="487363" cy="487363"/>
          </a:xfrm>
          <a:prstGeom prst="rect">
            <a:avLst/>
          </a:prstGeom>
        </p:spPr>
      </p:pic>
    </p:spTree>
    <p:extLst>
      <p:ext uri="{BB962C8B-B14F-4D97-AF65-F5344CB8AC3E}">
        <p14:creationId xmlns:p14="http://schemas.microsoft.com/office/powerpoint/2010/main" val="3843159131"/>
      </p:ext>
    </p:extLst>
  </p:cSld>
  <p:clrMapOvr>
    <a:masterClrMapping/>
  </p:clrMapOvr>
  <mc:AlternateContent xmlns:mc="http://schemas.openxmlformats.org/markup-compatibility/2006" xmlns:p14="http://schemas.microsoft.com/office/powerpoint/2010/main">
    <mc:Choice Requires="p14">
      <p:transition spd="med" p14:dur="700" advTm="110226">
        <p:fade/>
      </p:transition>
    </mc:Choice>
    <mc:Fallback xmlns="">
      <p:transition spd="med" advTm="11022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022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51527-4BDD-5E71-E376-D9AEC372ADDB}"/>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D0EAA82E-A11F-58A5-A03D-AD1689573BD0}"/>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Qualitative Analysis</a:t>
            </a:r>
          </a:p>
        </p:txBody>
      </p:sp>
      <p:sp>
        <p:nvSpPr>
          <p:cNvPr id="9" name="Rectangle 8">
            <a:extLst>
              <a:ext uri="{FF2B5EF4-FFF2-40B4-BE49-F238E27FC236}">
                <a16:creationId xmlns:a16="http://schemas.microsoft.com/office/drawing/2014/main" id="{DC4DE490-7992-56D8-901B-8249B100FCA1}"/>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0B0F0"/>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3C720113-2203-101B-2C77-934F876950D1}"/>
              </a:ext>
            </a:extLst>
          </p:cNvPr>
          <p:cNvSpPr txBox="1"/>
          <p:nvPr/>
        </p:nvSpPr>
        <p:spPr>
          <a:xfrm>
            <a:off x="990601" y="1236507"/>
            <a:ext cx="4337179"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200" b="1" i="0" u="none" strike="noStrike" kern="1200" cap="none" spc="0" normalizeH="0" baseline="0" noProof="0" dirty="0">
                <a:ln>
                  <a:noFill/>
                </a:ln>
                <a:effectLst/>
                <a:uLnTx/>
                <a:uFillTx/>
                <a:latin typeface="Calibri"/>
                <a:ea typeface="+mn-ea"/>
                <a:cs typeface="+mn-cs"/>
              </a:rPr>
              <a:t>Checkout 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Operation: Intermittent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Requires physical stops at kiosks to scan badges &amp; equipment tags.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Availability: Dependent on Infrastructure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Relies on continuous kiosk uptime, local LAN, and database connectivity.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Cost: High</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Driven by kiosk hardware and ongoing labor overhead.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Implementation: Simple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Modular wall mounting with standard local database setup and minimal IT friction.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Benefit to Company: Minimal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Basic audit trails prevent theft/hoarding but offers minimal real-time workflow relief.</a:t>
            </a:r>
          </a:p>
        </p:txBody>
      </p:sp>
      <p:sp>
        <p:nvSpPr>
          <p:cNvPr id="3" name="TextBox 2">
            <a:extLst>
              <a:ext uri="{FF2B5EF4-FFF2-40B4-BE49-F238E27FC236}">
                <a16:creationId xmlns:a16="http://schemas.microsoft.com/office/drawing/2014/main" id="{8EAB5993-1FC8-AABE-5612-2C59AEE1FBAA}"/>
              </a:ext>
            </a:extLst>
          </p:cNvPr>
          <p:cNvSpPr txBox="1"/>
          <p:nvPr/>
        </p:nvSpPr>
        <p:spPr>
          <a:xfrm>
            <a:off x="6159419" y="1236507"/>
            <a:ext cx="5175331" cy="4739759"/>
          </a:xfrm>
          <a:prstGeom prst="rect">
            <a:avLst/>
          </a:prstGeom>
          <a:noFill/>
        </p:spPr>
        <p:txBody>
          <a:bodyPr wrap="square" rtlCol="0">
            <a:spAutoFit/>
          </a:bodyPr>
          <a:lstStyle/>
          <a:p>
            <a:pPr>
              <a:spcAft>
                <a:spcPts val="600"/>
              </a:spcAft>
              <a:defRPr/>
            </a:pPr>
            <a:r>
              <a:rPr lang="en-US" sz="2200" b="1" dirty="0"/>
              <a:t>IoT Ecosystem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Operation: Continuous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Automated tracking requires zero staff scan time and eliminates manual check-out stops.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Availability: Continuous Asset Visibility</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Segmented Wi-Fi VLAN provides real-time, room-level tracking.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Cost: Moderate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Gateway and tag investments are offset by substantial long-term labor savings.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Implementation: Complex</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Requires ceiling gateway installation, Wi-Fi VLAN segmentation, and tag calibration.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B0F0"/>
                </a:solidFill>
                <a:effectLst/>
                <a:uLnTx/>
                <a:uFillTx/>
                <a:latin typeface="Calibri"/>
                <a:ea typeface="+mn-ea"/>
                <a:cs typeface="+mn-cs"/>
              </a:rPr>
              <a:t>Benefit to Company: Enterprise Efficiency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white"/>
                </a:solidFill>
                <a:effectLst/>
                <a:uLnTx/>
                <a:uFillTx/>
                <a:latin typeface="Calibri"/>
                <a:ea typeface="+mn-ea"/>
                <a:cs typeface="+mn-cs"/>
              </a:rPr>
              <a:t>Drastically reduces nurse search times, automates restocking, and prevents asset loss.</a:t>
            </a:r>
          </a:p>
        </p:txBody>
      </p:sp>
      <p:pic>
        <p:nvPicPr>
          <p:cNvPr id="6" name="Slide 11">
            <a:hlinkClick r:id="" action="ppaction://media"/>
            <a:extLst>
              <a:ext uri="{FF2B5EF4-FFF2-40B4-BE49-F238E27FC236}">
                <a16:creationId xmlns:a16="http://schemas.microsoft.com/office/drawing/2014/main" id="{CA3B4EAE-7B1E-E508-D309-9706F97B2E0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2263752724"/>
      </p:ext>
    </p:extLst>
  </p:cSld>
  <p:clrMapOvr>
    <a:masterClrMapping/>
  </p:clrMapOvr>
  <mc:AlternateContent xmlns:mc="http://schemas.openxmlformats.org/markup-compatibility/2006" xmlns:p14="http://schemas.microsoft.com/office/powerpoint/2010/main">
    <mc:Choice Requires="p14">
      <p:transition spd="med" p14:dur="700" advTm="81248">
        <p:fade/>
      </p:transition>
    </mc:Choice>
    <mc:Fallback xmlns="">
      <p:transition spd="med" advTm="8124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652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80B75-AD26-6630-3159-984AD232B9FA}"/>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8065AC4A-981D-3DB6-8C23-A87806DEED7F}"/>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Quantitative Analysis</a:t>
            </a:r>
          </a:p>
        </p:txBody>
      </p:sp>
      <p:sp>
        <p:nvSpPr>
          <p:cNvPr id="9" name="Rectangle 8">
            <a:extLst>
              <a:ext uri="{FF2B5EF4-FFF2-40B4-BE49-F238E27FC236}">
                <a16:creationId xmlns:a16="http://schemas.microsoft.com/office/drawing/2014/main" id="{7AC281DE-6116-66BC-9EA6-14E0445437F7}"/>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0B0F0"/>
              </a:solidFill>
              <a:effectLst/>
              <a:uLnTx/>
              <a:uFillTx/>
              <a:latin typeface="Calibri"/>
              <a:ea typeface="+mn-ea"/>
              <a:cs typeface="+mn-cs"/>
            </a:endParaRPr>
          </a:p>
        </p:txBody>
      </p:sp>
      <p:sp>
        <p:nvSpPr>
          <p:cNvPr id="24" name="TextBox 23">
            <a:extLst>
              <a:ext uri="{FF2B5EF4-FFF2-40B4-BE49-F238E27FC236}">
                <a16:creationId xmlns:a16="http://schemas.microsoft.com/office/drawing/2014/main" id="{BA1DBA15-646C-1ED1-B57E-825FC5F73A5D}"/>
              </a:ext>
            </a:extLst>
          </p:cNvPr>
          <p:cNvSpPr txBox="1"/>
          <p:nvPr/>
        </p:nvSpPr>
        <p:spPr>
          <a:xfrm>
            <a:off x="990601" y="1239225"/>
            <a:ext cx="4934338" cy="473975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200" b="1" i="0" u="none" strike="noStrike" kern="1200" cap="none" spc="0" normalizeH="0" baseline="0" noProof="0" dirty="0">
                <a:ln>
                  <a:noFill/>
                </a:ln>
                <a:effectLst/>
                <a:uLnTx/>
                <a:uFillTx/>
                <a:latin typeface="Calibri"/>
                <a:ea typeface="+mn-ea"/>
                <a:cs typeface="+mn-cs"/>
              </a:rPr>
              <a:t>Checkout System</a:t>
            </a:r>
          </a:p>
          <a:p>
            <a:pPr lvl="0">
              <a:defRPr/>
            </a:pPr>
            <a:r>
              <a:rPr lang="en-US" sz="1700" b="1" dirty="0">
                <a:solidFill>
                  <a:srgbClr val="00B0F0"/>
                </a:solidFill>
              </a:rPr>
              <a:t>Operation: Intermittent Workflow Kiosk Burden</a:t>
            </a:r>
          </a:p>
          <a:p>
            <a:pPr lvl="0">
              <a:spcAft>
                <a:spcPts val="600"/>
              </a:spcAft>
              <a:defRPr/>
            </a:pPr>
            <a:r>
              <a:rPr lang="en-US" sz="1700" dirty="0">
                <a:solidFill>
                  <a:prstClr val="white"/>
                </a:solidFill>
              </a:rPr>
              <a:t>Consumes unnecessary time during two scanning transaction (badge + tag)</a:t>
            </a:r>
          </a:p>
          <a:p>
            <a:pPr lvl="0">
              <a:defRPr/>
            </a:pPr>
            <a:r>
              <a:rPr lang="en-US" sz="1700" b="1" dirty="0">
                <a:solidFill>
                  <a:srgbClr val="00B0F0"/>
                </a:solidFill>
              </a:rPr>
              <a:t>Availability: Restricted</a:t>
            </a:r>
          </a:p>
          <a:p>
            <a:pPr lvl="0">
              <a:spcAft>
                <a:spcPts val="600"/>
              </a:spcAft>
              <a:defRPr/>
            </a:pPr>
            <a:r>
              <a:rPr lang="en-US" sz="1700" dirty="0">
                <a:solidFill>
                  <a:prstClr val="white"/>
                </a:solidFill>
              </a:rPr>
              <a:t>Visibility limited to last scan, with 0% accuracy once moved from kiosk.</a:t>
            </a:r>
          </a:p>
          <a:p>
            <a:pPr lvl="0">
              <a:defRPr/>
            </a:pPr>
            <a:r>
              <a:rPr lang="en-US" sz="1700" b="1" dirty="0">
                <a:solidFill>
                  <a:srgbClr val="00B0F0"/>
                </a:solidFill>
              </a:rPr>
              <a:t>Cost: High</a:t>
            </a:r>
          </a:p>
          <a:p>
            <a:pPr lvl="0">
              <a:spcAft>
                <a:spcPts val="600"/>
              </a:spcAft>
              <a:defRPr/>
            </a:pPr>
            <a:r>
              <a:rPr lang="en-US" sz="1700" dirty="0">
                <a:solidFill>
                  <a:prstClr val="white"/>
                </a:solidFill>
              </a:rPr>
              <a:t>Passive RFID tags average $8 a unit and wall kiosks average $1,200–$1,800/station </a:t>
            </a:r>
            <a:r>
              <a:rPr lang="en-US" sz="1700" dirty="0">
                <a:solidFill>
                  <a:prstClr val="black">
                    <a:lumMod val="50000"/>
                    <a:lumOff val="50000"/>
                  </a:prstClr>
                </a:solidFill>
              </a:rPr>
              <a:t>(Halstead, 2020)</a:t>
            </a:r>
            <a:r>
              <a:rPr lang="en-US" sz="1700" dirty="0">
                <a:solidFill>
                  <a:prstClr val="white"/>
                </a:solidFill>
              </a:rPr>
              <a:t>.</a:t>
            </a:r>
          </a:p>
          <a:p>
            <a:pPr lvl="0">
              <a:defRPr/>
            </a:pPr>
            <a:r>
              <a:rPr lang="en-US" sz="1700" b="1" dirty="0">
                <a:solidFill>
                  <a:srgbClr val="00B0F0"/>
                </a:solidFill>
              </a:rPr>
              <a:t>Implementation: Rapid Local Deployment</a:t>
            </a:r>
          </a:p>
          <a:p>
            <a:pPr>
              <a:spcAft>
                <a:spcPts val="600"/>
              </a:spcAft>
              <a:defRPr/>
            </a:pPr>
            <a:r>
              <a:rPr lang="en-US" sz="1700" dirty="0">
                <a:solidFill>
                  <a:prstClr val="white"/>
                </a:solidFill>
              </a:rPr>
              <a:t>0 hours of RF map calibration needed </a:t>
            </a:r>
            <a:r>
              <a:rPr lang="en-US" sz="1700" dirty="0">
                <a:solidFill>
                  <a:prstClr val="black">
                    <a:lumMod val="50000"/>
                    <a:lumOff val="50000"/>
                  </a:prstClr>
                </a:solidFill>
              </a:rPr>
              <a:t>(Halstead, 2020)</a:t>
            </a:r>
            <a:r>
              <a:rPr lang="en-US" sz="1700" dirty="0">
                <a:solidFill>
                  <a:prstClr val="white"/>
                </a:solidFill>
              </a:rPr>
              <a:t>.</a:t>
            </a:r>
          </a:p>
          <a:p>
            <a:pPr>
              <a:spcAft>
                <a:spcPts val="600"/>
              </a:spcAft>
              <a:defRPr/>
            </a:pPr>
            <a:r>
              <a:rPr lang="en-US" sz="1700" b="1" dirty="0">
                <a:solidFill>
                  <a:srgbClr val="00B0F0"/>
                </a:solidFill>
              </a:rPr>
              <a:t>Benefit to Company: Reduces Asset Loss</a:t>
            </a:r>
            <a:br>
              <a:rPr lang="en-US" sz="1700" b="1" dirty="0">
                <a:solidFill>
                  <a:srgbClr val="00B0F0"/>
                </a:solidFill>
              </a:rPr>
            </a:br>
            <a:r>
              <a:rPr lang="en-US" sz="1700" dirty="0">
                <a:solidFill>
                  <a:prstClr val="white"/>
                </a:solidFill>
              </a:rPr>
              <a:t>Cuts current asset loss of 15% </a:t>
            </a:r>
            <a:r>
              <a:rPr lang="en-US" sz="1700" dirty="0">
                <a:solidFill>
                  <a:prstClr val="black">
                    <a:lumMod val="50000"/>
                    <a:lumOff val="50000"/>
                  </a:prstClr>
                </a:solidFill>
              </a:rPr>
              <a:t>(Altus) </a:t>
            </a:r>
            <a:r>
              <a:rPr lang="en-US" sz="1700" dirty="0">
                <a:solidFill>
                  <a:prstClr val="white"/>
                </a:solidFill>
              </a:rPr>
              <a:t>but offers minimal real-time relief for daily nurse searches.</a:t>
            </a:r>
          </a:p>
        </p:txBody>
      </p:sp>
      <p:sp>
        <p:nvSpPr>
          <p:cNvPr id="3" name="TextBox 2">
            <a:extLst>
              <a:ext uri="{FF2B5EF4-FFF2-40B4-BE49-F238E27FC236}">
                <a16:creationId xmlns:a16="http://schemas.microsoft.com/office/drawing/2014/main" id="{88F26594-3AA5-C111-6AC5-AD525081C3D1}"/>
              </a:ext>
            </a:extLst>
          </p:cNvPr>
          <p:cNvSpPr txBox="1"/>
          <p:nvPr/>
        </p:nvSpPr>
        <p:spPr>
          <a:xfrm>
            <a:off x="6096000" y="1239225"/>
            <a:ext cx="5191761" cy="4739759"/>
          </a:xfrm>
          <a:prstGeom prst="rect">
            <a:avLst/>
          </a:prstGeom>
          <a:noFill/>
        </p:spPr>
        <p:txBody>
          <a:bodyPr wrap="square" rtlCol="0">
            <a:spAutoFit/>
          </a:bodyPr>
          <a:lstStyle/>
          <a:p>
            <a:pPr>
              <a:spcAft>
                <a:spcPts val="600"/>
              </a:spcAft>
              <a:defRPr/>
            </a:pPr>
            <a:r>
              <a:rPr lang="en-US" sz="2200" b="1" dirty="0"/>
              <a:t>IoT Ecosystem</a:t>
            </a:r>
          </a:p>
          <a:p>
            <a:pPr lvl="0">
              <a:defRPr/>
            </a:pPr>
            <a:r>
              <a:rPr lang="en-US" sz="1700" b="1" dirty="0">
                <a:solidFill>
                  <a:srgbClr val="00B0F0"/>
                </a:solidFill>
              </a:rPr>
              <a:t>Operation: Automated Zero-Touch</a:t>
            </a:r>
          </a:p>
          <a:p>
            <a:pPr lvl="0">
              <a:spcAft>
                <a:spcPts val="600"/>
              </a:spcAft>
              <a:defRPr/>
            </a:pPr>
            <a:r>
              <a:rPr lang="en-US" sz="1700" dirty="0">
                <a:solidFill>
                  <a:prstClr val="white"/>
                </a:solidFill>
              </a:rPr>
              <a:t>Precise tracking requiring 0 staff scan time; reclaims 30–60 min/shift</a:t>
            </a:r>
            <a:r>
              <a:rPr lang="en-US" sz="1700" dirty="0">
                <a:solidFill>
                  <a:prstClr val="black">
                    <a:lumMod val="50000"/>
                    <a:lumOff val="50000"/>
                  </a:prstClr>
                </a:solidFill>
              </a:rPr>
              <a:t> (Margarita, 2026; Collins, 2025)</a:t>
            </a:r>
            <a:r>
              <a:rPr lang="en-US" sz="1700" dirty="0">
                <a:solidFill>
                  <a:prstClr val="white"/>
                </a:solidFill>
              </a:rPr>
              <a:t>.</a:t>
            </a:r>
          </a:p>
          <a:p>
            <a:pPr lvl="0">
              <a:defRPr/>
            </a:pPr>
            <a:r>
              <a:rPr lang="en-US" sz="1700" b="1" dirty="0">
                <a:solidFill>
                  <a:srgbClr val="00B0F0"/>
                </a:solidFill>
              </a:rPr>
              <a:t>Availability: Continuous</a:t>
            </a:r>
          </a:p>
          <a:p>
            <a:pPr lvl="0">
              <a:spcAft>
                <a:spcPts val="600"/>
              </a:spcAft>
              <a:defRPr/>
            </a:pPr>
            <a:r>
              <a:rPr lang="en-US" sz="1700" dirty="0">
                <a:solidFill>
                  <a:prstClr val="white"/>
                </a:solidFill>
              </a:rPr>
              <a:t>Real-time visibility across all active hospital zones.</a:t>
            </a:r>
          </a:p>
          <a:p>
            <a:pPr lvl="0">
              <a:defRPr/>
            </a:pPr>
            <a:r>
              <a:rPr lang="en-US" sz="1700" b="1" dirty="0">
                <a:solidFill>
                  <a:srgbClr val="00B0F0"/>
                </a:solidFill>
              </a:rPr>
              <a:t>Cost: Moderate</a:t>
            </a:r>
          </a:p>
          <a:p>
            <a:pPr lvl="0">
              <a:spcAft>
                <a:spcPts val="600"/>
              </a:spcAft>
              <a:defRPr/>
            </a:pPr>
            <a:r>
              <a:rPr lang="en-US" sz="1700" dirty="0">
                <a:solidFill>
                  <a:prstClr val="white"/>
                </a:solidFill>
              </a:rPr>
              <a:t>Real-time tags cost $15–$50 each and ceiling gateways cost $150–$400 each </a:t>
            </a:r>
            <a:r>
              <a:rPr lang="en-US" sz="1700" dirty="0">
                <a:solidFill>
                  <a:prstClr val="black">
                    <a:lumMod val="50000"/>
                    <a:lumOff val="50000"/>
                  </a:prstClr>
                </a:solidFill>
              </a:rPr>
              <a:t>(CPCON Group, 2026)</a:t>
            </a:r>
            <a:r>
              <a:rPr lang="en-US" sz="1700" dirty="0">
                <a:solidFill>
                  <a:prstClr val="white"/>
                </a:solidFill>
              </a:rPr>
              <a:t>.</a:t>
            </a:r>
          </a:p>
          <a:p>
            <a:pPr lvl="0">
              <a:spcAft>
                <a:spcPts val="600"/>
              </a:spcAft>
              <a:defRPr/>
            </a:pPr>
            <a:r>
              <a:rPr lang="en-US" sz="1700" b="1" dirty="0">
                <a:solidFill>
                  <a:srgbClr val="00B0F0"/>
                </a:solidFill>
              </a:rPr>
              <a:t>Implementation: Complex</a:t>
            </a:r>
            <a:br>
              <a:rPr lang="en-US" sz="1700" b="1" dirty="0">
                <a:solidFill>
                  <a:srgbClr val="00B0F0"/>
                </a:solidFill>
              </a:rPr>
            </a:br>
            <a:r>
              <a:rPr lang="en-US" sz="1700" dirty="0">
                <a:solidFill>
                  <a:prstClr val="white"/>
                </a:solidFill>
              </a:rPr>
              <a:t>Requires ceiling gateway deployment &amp; 3–5-year battery cycle management </a:t>
            </a:r>
            <a:r>
              <a:rPr lang="en-US" sz="1700" dirty="0">
                <a:solidFill>
                  <a:prstClr val="black">
                    <a:lumMod val="50000"/>
                    <a:lumOff val="50000"/>
                  </a:prstClr>
                </a:solidFill>
              </a:rPr>
              <a:t>(CPCON Group, 2026)</a:t>
            </a:r>
            <a:r>
              <a:rPr lang="en-US" sz="1700" dirty="0">
                <a:solidFill>
                  <a:prstClr val="white"/>
                </a:solidFill>
              </a:rPr>
              <a:t>.</a:t>
            </a:r>
          </a:p>
          <a:p>
            <a:pPr lvl="0">
              <a:spcAft>
                <a:spcPts val="1200"/>
              </a:spcAft>
              <a:defRPr/>
            </a:pPr>
            <a:r>
              <a:rPr lang="en-US" sz="1700" b="1" dirty="0">
                <a:solidFill>
                  <a:srgbClr val="00B0F0"/>
                </a:solidFill>
              </a:rPr>
              <a:t>Benefit to Company: Enterprise ROI</a:t>
            </a:r>
            <a:br>
              <a:rPr lang="en-US" sz="1700" b="1" dirty="0">
                <a:solidFill>
                  <a:srgbClr val="00B0F0"/>
                </a:solidFill>
              </a:rPr>
            </a:br>
            <a:r>
              <a:rPr lang="en-US" sz="1700" dirty="0">
                <a:solidFill>
                  <a:prstClr val="white"/>
                </a:solidFill>
              </a:rPr>
              <a:t>Reclaims portion of $14B industry productivity loss </a:t>
            </a:r>
            <a:r>
              <a:rPr lang="en-US" sz="1700" dirty="0">
                <a:solidFill>
                  <a:prstClr val="black">
                    <a:lumMod val="50000"/>
                    <a:lumOff val="50000"/>
                  </a:prstClr>
                </a:solidFill>
              </a:rPr>
              <a:t>(Margarita, 2026)</a:t>
            </a:r>
            <a:r>
              <a:rPr lang="en-US" sz="1700" dirty="0">
                <a:solidFill>
                  <a:prstClr val="white"/>
                </a:solidFill>
              </a:rPr>
              <a:t> and increases asset utilization from</a:t>
            </a:r>
            <a:br>
              <a:rPr lang="en-US" sz="1700" dirty="0">
                <a:solidFill>
                  <a:prstClr val="white"/>
                </a:solidFill>
              </a:rPr>
            </a:br>
            <a:r>
              <a:rPr lang="en-US" sz="1700" dirty="0">
                <a:solidFill>
                  <a:prstClr val="white"/>
                </a:solidFill>
              </a:rPr>
              <a:t>35% to 70% </a:t>
            </a:r>
            <a:r>
              <a:rPr lang="en-US" sz="1700" dirty="0">
                <a:solidFill>
                  <a:prstClr val="black">
                    <a:lumMod val="50000"/>
                    <a:lumOff val="50000"/>
                  </a:prstClr>
                </a:solidFill>
              </a:rPr>
              <a:t>(Jina, 2024).</a:t>
            </a:r>
          </a:p>
        </p:txBody>
      </p:sp>
      <p:pic>
        <p:nvPicPr>
          <p:cNvPr id="2" name="Slide 12">
            <a:hlinkClick r:id="" action="ppaction://media"/>
            <a:extLst>
              <a:ext uri="{FF2B5EF4-FFF2-40B4-BE49-F238E27FC236}">
                <a16:creationId xmlns:a16="http://schemas.microsoft.com/office/drawing/2014/main" id="{D412C339-6CD5-759E-3B31-7C74572BCC33}"/>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40" y="152397"/>
            <a:ext cx="487363" cy="487363"/>
          </a:xfrm>
          <a:prstGeom prst="rect">
            <a:avLst/>
          </a:prstGeom>
        </p:spPr>
      </p:pic>
    </p:spTree>
    <p:extLst>
      <p:ext uri="{BB962C8B-B14F-4D97-AF65-F5344CB8AC3E}">
        <p14:creationId xmlns:p14="http://schemas.microsoft.com/office/powerpoint/2010/main" val="488378777"/>
      </p:ext>
    </p:extLst>
  </p:cSld>
  <p:clrMapOvr>
    <a:masterClrMapping/>
  </p:clrMapOvr>
  <mc:AlternateContent xmlns:mc="http://schemas.openxmlformats.org/markup-compatibility/2006" xmlns:p14="http://schemas.microsoft.com/office/powerpoint/2010/main">
    <mc:Choice Requires="p14">
      <p:transition spd="med" p14:dur="700" advTm="89542">
        <p:fade/>
      </p:transition>
    </mc:Choice>
    <mc:Fallback xmlns="">
      <p:transition spd="med" advTm="8954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954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757F7-2CA4-5347-9F3D-41D1AF27BD6B}"/>
            </a:ext>
          </a:extLst>
        </p:cNvPr>
        <p:cNvGrpSpPr/>
        <p:nvPr/>
      </p:nvGrpSpPr>
      <p:grpSpPr>
        <a:xfrm>
          <a:off x="0" y="0"/>
          <a:ext cx="0" cy="0"/>
          <a:chOff x="0" y="0"/>
          <a:chExt cx="0" cy="0"/>
        </a:xfrm>
      </p:grpSpPr>
      <p:sp>
        <p:nvSpPr>
          <p:cNvPr id="16" name="Title 2">
            <a:extLst>
              <a:ext uri="{FF2B5EF4-FFF2-40B4-BE49-F238E27FC236}">
                <a16:creationId xmlns:a16="http://schemas.microsoft.com/office/drawing/2014/main" id="{D715C4F5-0FE3-E237-955F-3521B213221A}"/>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Recommended Solution: IoT Ecosystem</a:t>
            </a:r>
          </a:p>
        </p:txBody>
      </p:sp>
      <p:sp>
        <p:nvSpPr>
          <p:cNvPr id="20" name="Rectangle 19">
            <a:extLst>
              <a:ext uri="{FF2B5EF4-FFF2-40B4-BE49-F238E27FC236}">
                <a16:creationId xmlns:a16="http://schemas.microsoft.com/office/drawing/2014/main" id="{6A5E02B2-15FC-BEE7-754C-553F6C62B7A5}"/>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3" name="TextBox 2">
            <a:extLst>
              <a:ext uri="{FF2B5EF4-FFF2-40B4-BE49-F238E27FC236}">
                <a16:creationId xmlns:a16="http://schemas.microsoft.com/office/drawing/2014/main" id="{9512F7E8-6C9E-A204-CC63-547A740D229D}"/>
              </a:ext>
            </a:extLst>
          </p:cNvPr>
          <p:cNvSpPr txBox="1"/>
          <p:nvPr/>
        </p:nvSpPr>
        <p:spPr>
          <a:xfrm>
            <a:off x="957941" y="1182076"/>
            <a:ext cx="3331027" cy="4611519"/>
          </a:xfrm>
          <a:prstGeom prst="rect">
            <a:avLst/>
          </a:prstGeom>
          <a:noFill/>
        </p:spPr>
        <p:txBody>
          <a:bodyPr wrap="square" rtlCol="0">
            <a:spAutoFit/>
          </a:bodyPr>
          <a:lstStyle/>
          <a:p>
            <a:pPr>
              <a:spcAft>
                <a:spcPts val="600"/>
              </a:spcAft>
            </a:pPr>
            <a:r>
              <a:rPr lang="en-US" sz="2200" b="1" dirty="0"/>
              <a:t>Infrastructure Architecture</a:t>
            </a:r>
            <a:endParaRPr lang="en-US" sz="2200" b="1" dirty="0">
              <a:solidFill>
                <a:srgbClr val="00B0F0"/>
              </a:solidFill>
            </a:endParaRPr>
          </a:p>
          <a:p>
            <a:r>
              <a:rPr lang="en-US" sz="1700" b="1" dirty="0">
                <a:solidFill>
                  <a:srgbClr val="00B0F0"/>
                </a:solidFill>
              </a:rPr>
              <a:t>IoT Sensors</a:t>
            </a:r>
          </a:p>
          <a:p>
            <a:r>
              <a:rPr lang="en-US" sz="1700" dirty="0">
                <a:solidFill>
                  <a:srgbClr val="00B0F0"/>
                </a:solidFill>
              </a:rPr>
              <a:t>•</a:t>
            </a:r>
            <a:r>
              <a:rPr lang="en-US" sz="1700" dirty="0"/>
              <a:t> UWB tags send real-time signals </a:t>
            </a:r>
            <a:br>
              <a:rPr lang="en-US" sz="1700" dirty="0"/>
            </a:br>
            <a:r>
              <a:rPr lang="en-US" sz="1700" dirty="0"/>
              <a:t>   to ceiling gateways.</a:t>
            </a:r>
          </a:p>
          <a:p>
            <a:r>
              <a:rPr lang="en-US" sz="1700" dirty="0">
                <a:solidFill>
                  <a:srgbClr val="00B0F0"/>
                </a:solidFill>
              </a:rPr>
              <a:t>• </a:t>
            </a:r>
            <a:r>
              <a:rPr lang="en-US" sz="1700" dirty="0"/>
              <a:t>Integrated physical buttons:</a:t>
            </a:r>
            <a:br>
              <a:rPr lang="en-US" sz="1700" dirty="0"/>
            </a:br>
            <a:r>
              <a:rPr lang="en-US" sz="1700" dirty="0"/>
              <a:t>   Clean / Dirty / Maintenance</a:t>
            </a:r>
          </a:p>
          <a:p>
            <a:endParaRPr lang="en-US" sz="1700" dirty="0"/>
          </a:p>
          <a:p>
            <a:r>
              <a:rPr lang="en-US" sz="1700" b="1" dirty="0">
                <a:solidFill>
                  <a:srgbClr val="00B0F0"/>
                </a:solidFill>
              </a:rPr>
              <a:t>Ceiling Gateways</a:t>
            </a:r>
          </a:p>
          <a:p>
            <a:pPr>
              <a:spcAft>
                <a:spcPts val="1200"/>
              </a:spcAft>
            </a:pPr>
            <a:r>
              <a:rPr lang="en-US" sz="1700" dirty="0"/>
              <a:t>Transmits location data over isolated, encrypted Wi-Fi VLAN to a hybrid Relational/NoSQL DB.</a:t>
            </a:r>
          </a:p>
          <a:p>
            <a:pPr>
              <a:spcBef>
                <a:spcPts val="150"/>
              </a:spcBef>
            </a:pPr>
            <a:r>
              <a:rPr lang="en-US" sz="1700" b="1" dirty="0">
                <a:solidFill>
                  <a:srgbClr val="00B0F0"/>
                </a:solidFill>
              </a:rPr>
              <a:t>Automated Workflow</a:t>
            </a:r>
          </a:p>
          <a:p>
            <a:pPr>
              <a:spcAft>
                <a:spcPts val="1200"/>
              </a:spcAft>
            </a:pPr>
            <a:r>
              <a:rPr lang="en-US" sz="1700" dirty="0"/>
              <a:t>Zero-touch room-level tracking that pairs UWB asset tags directly with nurse room assignments upon entry</a:t>
            </a:r>
            <a:endParaRPr lang="en-US" sz="1700" b="1" dirty="0">
              <a:solidFill>
                <a:srgbClr val="00B0F0"/>
              </a:solidFill>
            </a:endParaRPr>
          </a:p>
        </p:txBody>
      </p:sp>
      <p:sp>
        <p:nvSpPr>
          <p:cNvPr id="5" name="TextBox 4">
            <a:extLst>
              <a:ext uri="{FF2B5EF4-FFF2-40B4-BE49-F238E27FC236}">
                <a16:creationId xmlns:a16="http://schemas.microsoft.com/office/drawing/2014/main" id="{29129D30-1912-F8E8-C06E-55D093CA128E}"/>
              </a:ext>
            </a:extLst>
          </p:cNvPr>
          <p:cNvSpPr txBox="1"/>
          <p:nvPr/>
        </p:nvSpPr>
        <p:spPr>
          <a:xfrm>
            <a:off x="4281392" y="1182076"/>
            <a:ext cx="3331027" cy="4770537"/>
          </a:xfrm>
          <a:prstGeom prst="rect">
            <a:avLst/>
          </a:prstGeom>
          <a:noFill/>
        </p:spPr>
        <p:txBody>
          <a:bodyPr wrap="square" rtlCol="0">
            <a:spAutoFit/>
          </a:bodyPr>
          <a:lstStyle/>
          <a:p>
            <a:pPr>
              <a:spcAft>
                <a:spcPts val="600"/>
              </a:spcAft>
            </a:pPr>
            <a:r>
              <a:rPr lang="en-US" sz="2200" b="1" dirty="0"/>
              <a:t>Software &amp; Access Control</a:t>
            </a:r>
            <a:endParaRPr lang="en-US" sz="2200" b="1" dirty="0">
              <a:solidFill>
                <a:srgbClr val="00B0F0"/>
              </a:solidFill>
            </a:endParaRPr>
          </a:p>
          <a:p>
            <a:r>
              <a:rPr lang="en-US" sz="1700" b="1" dirty="0">
                <a:solidFill>
                  <a:srgbClr val="00B0F0"/>
                </a:solidFill>
              </a:rPr>
              <a:t>User Dashboard</a:t>
            </a:r>
          </a:p>
          <a:p>
            <a:r>
              <a:rPr lang="en-US" sz="1700" dirty="0">
                <a:solidFill>
                  <a:srgbClr val="00B0F0"/>
                </a:solidFill>
              </a:rPr>
              <a:t>•</a:t>
            </a:r>
            <a:r>
              <a:rPr lang="en-US" sz="1700" dirty="0"/>
              <a:t> Live visual floor maps tracking</a:t>
            </a:r>
            <a:br>
              <a:rPr lang="en-US" sz="1700" dirty="0"/>
            </a:br>
            <a:r>
              <a:rPr lang="en-US" sz="1700" dirty="0"/>
              <a:t>   exact asset positions.</a:t>
            </a:r>
          </a:p>
          <a:p>
            <a:pPr>
              <a:spcAft>
                <a:spcPts val="600"/>
              </a:spcAft>
            </a:pPr>
            <a:r>
              <a:rPr lang="en-US" sz="1700" dirty="0">
                <a:solidFill>
                  <a:srgbClr val="00B0F0"/>
                </a:solidFill>
              </a:rPr>
              <a:t>•</a:t>
            </a:r>
            <a:r>
              <a:rPr lang="en-US" sz="1700" dirty="0"/>
              <a:t> Low-stock inventory alerts with </a:t>
            </a:r>
            <a:br>
              <a:rPr lang="en-US" sz="1700" dirty="0"/>
            </a:br>
            <a:r>
              <a:rPr lang="en-US" sz="1700" dirty="0"/>
              <a:t>   charge nurse escalation </a:t>
            </a:r>
            <a:br>
              <a:rPr lang="en-US" sz="1700" dirty="0"/>
            </a:br>
            <a:r>
              <a:rPr lang="en-US" sz="1700" dirty="0"/>
              <a:t>   thresholds.</a:t>
            </a:r>
          </a:p>
          <a:p>
            <a:r>
              <a:rPr lang="en-US" sz="1700" b="1" dirty="0">
                <a:solidFill>
                  <a:srgbClr val="00B0F0"/>
                </a:solidFill>
              </a:rPr>
              <a:t>Role-Based Access Control</a:t>
            </a:r>
          </a:p>
          <a:p>
            <a:r>
              <a:rPr lang="en-US" sz="1700" dirty="0">
                <a:solidFill>
                  <a:srgbClr val="00B0F0"/>
                </a:solidFill>
              </a:rPr>
              <a:t>•</a:t>
            </a:r>
            <a:r>
              <a:rPr lang="en-US" sz="1700" dirty="0"/>
              <a:t> Nurses: View floor maps, check </a:t>
            </a:r>
            <a:br>
              <a:rPr lang="en-US" sz="1700" dirty="0"/>
            </a:br>
            <a:r>
              <a:rPr lang="en-US" sz="1700" dirty="0"/>
              <a:t>   availability, toggle hygiene states.</a:t>
            </a:r>
          </a:p>
          <a:p>
            <a:r>
              <a:rPr lang="en-US" sz="1700" dirty="0">
                <a:solidFill>
                  <a:srgbClr val="00B0F0"/>
                </a:solidFill>
              </a:rPr>
              <a:t>•</a:t>
            </a:r>
            <a:r>
              <a:rPr lang="en-US" sz="1700" dirty="0"/>
              <a:t> Charge Nurses: Reallocate stock, </a:t>
            </a:r>
            <a:br>
              <a:rPr lang="en-US" sz="1700" dirty="0"/>
            </a:br>
            <a:r>
              <a:rPr lang="en-US" sz="1700" dirty="0"/>
              <a:t>   manage maintenance, clear </a:t>
            </a:r>
            <a:br>
              <a:rPr lang="en-US" sz="1700" dirty="0"/>
            </a:br>
            <a:r>
              <a:rPr lang="en-US" sz="1700" dirty="0"/>
              <a:t>   alerts.</a:t>
            </a:r>
          </a:p>
          <a:p>
            <a:r>
              <a:rPr lang="en-US" sz="1700" dirty="0">
                <a:solidFill>
                  <a:srgbClr val="00B0F0"/>
                </a:solidFill>
              </a:rPr>
              <a:t>•</a:t>
            </a:r>
            <a:r>
              <a:rPr lang="en-US" sz="1700" dirty="0"/>
              <a:t> System Administrators:</a:t>
            </a:r>
            <a:br>
              <a:rPr lang="en-US" sz="1700" dirty="0"/>
            </a:br>
            <a:r>
              <a:rPr lang="en-US" sz="1700" dirty="0"/>
              <a:t>   Manage RBAC rules, gateway</a:t>
            </a:r>
            <a:br>
              <a:rPr lang="en-US" sz="1700" dirty="0"/>
            </a:br>
            <a:r>
              <a:rPr lang="en-US" sz="1700" dirty="0"/>
              <a:t>   states, and network </a:t>
            </a:r>
            <a:br>
              <a:rPr lang="en-US" sz="1700" dirty="0"/>
            </a:br>
            <a:r>
              <a:rPr lang="en-US" sz="1700" dirty="0"/>
              <a:t>   configurations.</a:t>
            </a:r>
          </a:p>
        </p:txBody>
      </p:sp>
      <p:sp>
        <p:nvSpPr>
          <p:cNvPr id="4" name="TextBox 3">
            <a:extLst>
              <a:ext uri="{FF2B5EF4-FFF2-40B4-BE49-F238E27FC236}">
                <a16:creationId xmlns:a16="http://schemas.microsoft.com/office/drawing/2014/main" id="{EEEAA532-59EF-66C0-86A2-DCD11EDF1F01}"/>
              </a:ext>
            </a:extLst>
          </p:cNvPr>
          <p:cNvSpPr txBox="1"/>
          <p:nvPr/>
        </p:nvSpPr>
        <p:spPr>
          <a:xfrm>
            <a:off x="7539139" y="1182076"/>
            <a:ext cx="3748622" cy="4924425"/>
          </a:xfrm>
          <a:prstGeom prst="rect">
            <a:avLst/>
          </a:prstGeom>
          <a:noFill/>
        </p:spPr>
        <p:txBody>
          <a:bodyPr wrap="square" rtlCol="0">
            <a:spAutoFit/>
          </a:bodyPr>
          <a:lstStyle/>
          <a:p>
            <a:pPr>
              <a:spcAft>
                <a:spcPts val="600"/>
              </a:spcAft>
            </a:pPr>
            <a:r>
              <a:rPr lang="en-US" sz="2200" b="1" dirty="0"/>
              <a:t>Justification &amp; Impact</a:t>
            </a:r>
            <a:endParaRPr lang="en-US" sz="2200" b="1" dirty="0">
              <a:solidFill>
                <a:srgbClr val="00B0F0"/>
              </a:solidFill>
            </a:endParaRPr>
          </a:p>
          <a:p>
            <a:pPr>
              <a:spcAft>
                <a:spcPts val="600"/>
              </a:spcAft>
            </a:pPr>
            <a:r>
              <a:rPr lang="en-US" sz="1700" b="1" dirty="0">
                <a:solidFill>
                  <a:srgbClr val="00B0F0"/>
                </a:solidFill>
              </a:rPr>
              <a:t>Clinical Productivity</a:t>
            </a:r>
            <a:br>
              <a:rPr lang="en-US" sz="1700" b="1" dirty="0">
                <a:solidFill>
                  <a:srgbClr val="00B0F0"/>
                </a:solidFill>
              </a:rPr>
            </a:br>
            <a:r>
              <a:rPr lang="en-US" sz="1700" dirty="0"/>
              <a:t>Reclaims 30–60 min/shift per nurse by replacing manual check-outs with room proximity pairing  </a:t>
            </a:r>
            <a:r>
              <a:rPr lang="en-US" sz="1700" dirty="0">
                <a:solidFill>
                  <a:schemeClr val="bg1">
                    <a:lumMod val="50000"/>
                    <a:lumOff val="50000"/>
                  </a:schemeClr>
                </a:solidFill>
              </a:rPr>
              <a:t>(Margarita, 2026; Collins, 2025)</a:t>
            </a:r>
            <a:r>
              <a:rPr lang="en-US" sz="1700" dirty="0"/>
              <a:t>.</a:t>
            </a:r>
          </a:p>
          <a:p>
            <a:pPr>
              <a:spcAft>
                <a:spcPts val="1200"/>
              </a:spcAft>
            </a:pPr>
            <a:r>
              <a:rPr lang="en-US" sz="1700" b="1" dirty="0">
                <a:solidFill>
                  <a:srgbClr val="00B0F0"/>
                </a:solidFill>
              </a:rPr>
              <a:t>Cost &amp; Asset Efficiency</a:t>
            </a:r>
            <a:br>
              <a:rPr lang="en-US" sz="1700" dirty="0"/>
            </a:br>
            <a:r>
              <a:rPr lang="en-US" sz="1700" dirty="0">
                <a:solidFill>
                  <a:srgbClr val="00B0F0"/>
                </a:solidFill>
              </a:rPr>
              <a:t>• </a:t>
            </a:r>
            <a:r>
              <a:rPr lang="en-US" sz="1700" dirty="0"/>
              <a:t>Eliminates redundant equipment </a:t>
            </a:r>
            <a:br>
              <a:rPr lang="en-US" sz="1700" dirty="0"/>
            </a:br>
            <a:r>
              <a:rPr lang="en-US" sz="1700" dirty="0"/>
              <a:t>    purchases and cuts loss via automated </a:t>
            </a:r>
            <a:br>
              <a:rPr lang="en-US" sz="1700" dirty="0"/>
            </a:br>
            <a:r>
              <a:rPr lang="en-US" sz="1700" dirty="0"/>
              <a:t>    geofencing.</a:t>
            </a:r>
            <a:br>
              <a:rPr lang="en-US" sz="1700" dirty="0"/>
            </a:br>
            <a:r>
              <a:rPr lang="en-US" sz="1700" dirty="0">
                <a:solidFill>
                  <a:srgbClr val="00B0F0"/>
                </a:solidFill>
              </a:rPr>
              <a:t>• </a:t>
            </a:r>
            <a:r>
              <a:rPr lang="en-US" sz="1700" dirty="0"/>
              <a:t>Redirects wasted search hours directly </a:t>
            </a:r>
            <a:br>
              <a:rPr lang="en-US" sz="1700" dirty="0"/>
            </a:br>
            <a:r>
              <a:rPr lang="en-US" sz="1700" dirty="0"/>
              <a:t>    back to patient care</a:t>
            </a:r>
            <a:br>
              <a:rPr lang="en-US" sz="1700" dirty="0"/>
            </a:br>
            <a:r>
              <a:rPr lang="en-US" sz="1700" dirty="0"/>
              <a:t>    </a:t>
            </a:r>
            <a:r>
              <a:rPr lang="en-US" sz="1700" dirty="0">
                <a:solidFill>
                  <a:schemeClr val="bg1">
                    <a:lumMod val="50000"/>
                    <a:lumOff val="50000"/>
                  </a:schemeClr>
                </a:solidFill>
              </a:rPr>
              <a:t>(Margarita, 2026)</a:t>
            </a:r>
            <a:r>
              <a:rPr lang="en-US" sz="1700" dirty="0"/>
              <a:t>.</a:t>
            </a:r>
          </a:p>
          <a:p>
            <a:pPr>
              <a:spcAft>
                <a:spcPts val="1200"/>
              </a:spcAft>
            </a:pPr>
            <a:r>
              <a:rPr lang="en-US" sz="1700" b="1" dirty="0">
                <a:solidFill>
                  <a:srgbClr val="00B0F0"/>
                </a:solidFill>
              </a:rPr>
              <a:t>Cost &amp; Asset Efficiency</a:t>
            </a:r>
            <a:br>
              <a:rPr lang="en-US" sz="1700" dirty="0"/>
            </a:br>
            <a:r>
              <a:rPr lang="en-US" sz="1700" dirty="0"/>
              <a:t>Segmented Wi-Fi VLAN isolates tracking data, minimizing PHI exposure while integrating with staff assignment feeds.</a:t>
            </a:r>
          </a:p>
        </p:txBody>
      </p:sp>
      <p:pic>
        <p:nvPicPr>
          <p:cNvPr id="6" name="Slide 13">
            <a:hlinkClick r:id="" action="ppaction://media"/>
            <a:extLst>
              <a:ext uri="{FF2B5EF4-FFF2-40B4-BE49-F238E27FC236}">
                <a16:creationId xmlns:a16="http://schemas.microsoft.com/office/drawing/2014/main" id="{B6530341-1BE0-A5B1-0F37-35710C5D0D2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6842" y="137160"/>
            <a:ext cx="487363" cy="487363"/>
          </a:xfrm>
          <a:prstGeom prst="rect">
            <a:avLst/>
          </a:prstGeom>
        </p:spPr>
      </p:pic>
    </p:spTree>
    <p:extLst>
      <p:ext uri="{BB962C8B-B14F-4D97-AF65-F5344CB8AC3E}">
        <p14:creationId xmlns:p14="http://schemas.microsoft.com/office/powerpoint/2010/main" val="1332037486"/>
      </p:ext>
    </p:extLst>
  </p:cSld>
  <p:clrMapOvr>
    <a:masterClrMapping/>
  </p:clrMapOvr>
  <mc:AlternateContent xmlns:mc="http://schemas.openxmlformats.org/markup-compatibility/2006" xmlns:p14="http://schemas.microsoft.com/office/powerpoint/2010/main">
    <mc:Choice Requires="p14">
      <p:transition spd="med" p14:dur="700" advTm="81079">
        <p:fade/>
      </p:transition>
    </mc:Choice>
    <mc:Fallback xmlns="">
      <p:transition spd="med" advTm="8107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844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4954-BDA3-6BA0-0F1D-20F75B8F9D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4F32A4-441A-5F28-E782-B4F948114106}"/>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marL="0" marR="0" lvl="0" indent="0" algn="ctr" defTabSz="1218987" rtl="0" eaLnBrk="1" fontAlgn="auto" latinLnBrk="0" hangingPunct="1">
              <a:lnSpc>
                <a:spcPct val="90000"/>
              </a:lnSpc>
              <a:spcBef>
                <a:spcPct val="0"/>
              </a:spcBef>
              <a:spcAft>
                <a:spcPts val="60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a:ea typeface="+mj-ea"/>
                <a:cs typeface="+mj-cs"/>
              </a:rPr>
              <a:t>High-Level Design: IoT Ecosystem</a:t>
            </a:r>
          </a:p>
        </p:txBody>
      </p:sp>
      <p:sp>
        <p:nvSpPr>
          <p:cNvPr id="5" name="Rectangle 4">
            <a:extLst>
              <a:ext uri="{FF2B5EF4-FFF2-40B4-BE49-F238E27FC236}">
                <a16:creationId xmlns:a16="http://schemas.microsoft.com/office/drawing/2014/main" id="{8CDA24E9-3861-3EE6-A65B-2E3B12B1C4FD}"/>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00B0F0"/>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3794AAFE-2EF7-B577-CA57-DBA9C9D33FA4}"/>
              </a:ext>
            </a:extLst>
          </p:cNvPr>
          <p:cNvPicPr>
            <a:picLocks noChangeAspect="1"/>
          </p:cNvPicPr>
          <p:nvPr/>
        </p:nvPicPr>
        <p:blipFill>
          <a:blip r:embed="rId4"/>
          <a:stretch>
            <a:fillRect/>
          </a:stretch>
        </p:blipFill>
        <p:spPr>
          <a:xfrm>
            <a:off x="1147219" y="1573961"/>
            <a:ext cx="10016830" cy="4644356"/>
          </a:xfrm>
          <a:prstGeom prst="rect">
            <a:avLst/>
          </a:prstGeom>
        </p:spPr>
      </p:pic>
      <p:pic>
        <p:nvPicPr>
          <p:cNvPr id="4" name="Slide 14">
            <a:hlinkClick r:id="" action="ppaction://media"/>
            <a:extLst>
              <a:ext uri="{FF2B5EF4-FFF2-40B4-BE49-F238E27FC236}">
                <a16:creationId xmlns:a16="http://schemas.microsoft.com/office/drawing/2014/main" id="{8572EB33-F7C4-9877-AD70-6B648E6B392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67477" y="132556"/>
            <a:ext cx="487363" cy="487363"/>
          </a:xfrm>
          <a:prstGeom prst="rect">
            <a:avLst/>
          </a:prstGeom>
        </p:spPr>
      </p:pic>
    </p:spTree>
    <p:extLst>
      <p:ext uri="{BB962C8B-B14F-4D97-AF65-F5344CB8AC3E}">
        <p14:creationId xmlns:p14="http://schemas.microsoft.com/office/powerpoint/2010/main" val="677058440"/>
      </p:ext>
    </p:extLst>
  </p:cSld>
  <p:clrMapOvr>
    <a:masterClrMapping/>
  </p:clrMapOvr>
  <mc:AlternateContent xmlns:mc="http://schemas.openxmlformats.org/markup-compatibility/2006" xmlns:p14="http://schemas.microsoft.com/office/powerpoint/2010/main">
    <mc:Choice Requires="p14">
      <p:transition spd="med" p14:dur="700" advTm="105363">
        <p:fade/>
      </p:transition>
    </mc:Choice>
    <mc:Fallback xmlns="">
      <p:transition spd="med" advTm="10536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29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15EA-25DE-8BFA-D26A-2E7B2A508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9189E-72CC-3D84-5789-3579CB02C383}"/>
              </a:ext>
            </a:extLst>
          </p:cNvPr>
          <p:cNvSpPr>
            <a:spLocks noGrp="1"/>
          </p:cNvSpPr>
          <p:nvPr>
            <p:ph type="ctrTitle"/>
          </p:nvPr>
        </p:nvSpPr>
        <p:spPr>
          <a:xfrm>
            <a:off x="1662924" y="2360641"/>
            <a:ext cx="8737600" cy="1138331"/>
          </a:xfrm>
        </p:spPr>
        <p:txBody>
          <a:bodyPr>
            <a:noAutofit/>
          </a:bodyPr>
          <a:lstStyle/>
          <a:p>
            <a:pPr algn="ctr">
              <a:lnSpc>
                <a:spcPct val="100000"/>
              </a:lnSpc>
            </a:pPr>
            <a:r>
              <a:rPr lang="en-US" sz="6500" dirty="0"/>
              <a:t>Implementation Plan</a:t>
            </a:r>
          </a:p>
        </p:txBody>
      </p:sp>
      <p:pic>
        <p:nvPicPr>
          <p:cNvPr id="3" name="Slide 15">
            <a:hlinkClick r:id="" action="ppaction://media"/>
            <a:extLst>
              <a:ext uri="{FF2B5EF4-FFF2-40B4-BE49-F238E27FC236}">
                <a16:creationId xmlns:a16="http://schemas.microsoft.com/office/drawing/2014/main" id="{EE48691C-FF83-EEBA-1F7A-532F9516212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0705" y="143932"/>
            <a:ext cx="487363" cy="487363"/>
          </a:xfrm>
          <a:prstGeom prst="rect">
            <a:avLst/>
          </a:prstGeom>
        </p:spPr>
      </p:pic>
    </p:spTree>
    <p:extLst>
      <p:ext uri="{BB962C8B-B14F-4D97-AF65-F5344CB8AC3E}">
        <p14:creationId xmlns:p14="http://schemas.microsoft.com/office/powerpoint/2010/main" val="2130393316"/>
      </p:ext>
    </p:extLst>
  </p:cSld>
  <p:clrMapOvr>
    <a:masterClrMapping/>
  </p:clrMapOvr>
  <mc:AlternateContent xmlns:mc="http://schemas.openxmlformats.org/markup-compatibility/2006" xmlns:p14="http://schemas.microsoft.com/office/powerpoint/2010/main">
    <mc:Choice Requires="p14">
      <p:transition spd="med" p14:dur="700" advTm="7390">
        <p:fade/>
      </p:transition>
    </mc:Choice>
    <mc:Fallback xmlns="">
      <p:transition spd="med" advTm="739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39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048B-7D83-4B04-E87B-C5BE157B7E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B88B3B-5B40-96F6-0DA9-2D9F33A3EFF3}"/>
              </a:ext>
            </a:extLst>
          </p:cNvPr>
          <p:cNvSpPr txBox="1">
            <a:spLocks/>
          </p:cNvSpPr>
          <p:nvPr/>
        </p:nvSpPr>
        <p:spPr>
          <a:xfrm>
            <a:off x="1011648" y="106680"/>
            <a:ext cx="10753631"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ctr">
              <a:spcAft>
                <a:spcPts val="600"/>
              </a:spcAft>
            </a:pPr>
            <a:r>
              <a:rPr lang="en-US" b="1" dirty="0"/>
              <a:t>Work Breakdown Structure</a:t>
            </a:r>
          </a:p>
        </p:txBody>
      </p:sp>
      <p:sp>
        <p:nvSpPr>
          <p:cNvPr id="5" name="Rectangle 4">
            <a:extLst>
              <a:ext uri="{FF2B5EF4-FFF2-40B4-BE49-F238E27FC236}">
                <a16:creationId xmlns:a16="http://schemas.microsoft.com/office/drawing/2014/main" id="{0F517F64-E21A-74D5-562F-3164DD8188D6}"/>
              </a:ext>
            </a:extLst>
          </p:cNvPr>
          <p:cNvSpPr/>
          <p:nvPr/>
        </p:nvSpPr>
        <p:spPr>
          <a:xfrm>
            <a:off x="1066800" y="1041718"/>
            <a:ext cx="10698480"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pic>
        <p:nvPicPr>
          <p:cNvPr id="4" name="Picture 3">
            <a:extLst>
              <a:ext uri="{FF2B5EF4-FFF2-40B4-BE49-F238E27FC236}">
                <a16:creationId xmlns:a16="http://schemas.microsoft.com/office/drawing/2014/main" id="{8D7904CA-091F-F524-C826-C7869670CBD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34146" y="3757230"/>
            <a:ext cx="5236334" cy="2346929"/>
          </a:xfrm>
          <a:prstGeom prst="rect">
            <a:avLst/>
          </a:prstGeom>
        </p:spPr>
      </p:pic>
      <p:pic>
        <p:nvPicPr>
          <p:cNvPr id="7" name="Picture 6">
            <a:extLst>
              <a:ext uri="{FF2B5EF4-FFF2-40B4-BE49-F238E27FC236}">
                <a16:creationId xmlns:a16="http://schemas.microsoft.com/office/drawing/2014/main" id="{3E985F30-6641-7413-05DA-A065A040532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34146" y="1437927"/>
            <a:ext cx="5229368" cy="2611832"/>
          </a:xfrm>
          <a:prstGeom prst="rect">
            <a:avLst/>
          </a:prstGeom>
        </p:spPr>
      </p:pic>
      <p:pic>
        <p:nvPicPr>
          <p:cNvPr id="10" name="Picture 9">
            <a:extLst>
              <a:ext uri="{FF2B5EF4-FFF2-40B4-BE49-F238E27FC236}">
                <a16:creationId xmlns:a16="http://schemas.microsoft.com/office/drawing/2014/main" id="{722997CB-C51E-D1A3-A06A-2C4BCBB8CAE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447324" y="3650251"/>
            <a:ext cx="5222160" cy="2209594"/>
          </a:xfrm>
          <a:prstGeom prst="rect">
            <a:avLst/>
          </a:prstGeom>
        </p:spPr>
      </p:pic>
      <p:pic>
        <p:nvPicPr>
          <p:cNvPr id="8" name="Picture 7">
            <a:extLst>
              <a:ext uri="{FF2B5EF4-FFF2-40B4-BE49-F238E27FC236}">
                <a16:creationId xmlns:a16="http://schemas.microsoft.com/office/drawing/2014/main" id="{D74B5720-FEF4-D2BB-DFB7-26A58AA8C7E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455230" y="1448087"/>
            <a:ext cx="5218322" cy="2481121"/>
          </a:xfrm>
          <a:prstGeom prst="rect">
            <a:avLst/>
          </a:prstGeom>
        </p:spPr>
      </p:pic>
      <p:pic>
        <p:nvPicPr>
          <p:cNvPr id="2" name="Slide 16">
            <a:hlinkClick r:id="" action="ppaction://media"/>
            <a:extLst>
              <a:ext uri="{FF2B5EF4-FFF2-40B4-BE49-F238E27FC236}">
                <a16:creationId xmlns:a16="http://schemas.microsoft.com/office/drawing/2014/main" id="{3B5947FD-A920-31E9-D97D-E89D706F246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552240" y="152397"/>
            <a:ext cx="487363" cy="487363"/>
          </a:xfrm>
          <a:prstGeom prst="rect">
            <a:avLst/>
          </a:prstGeom>
        </p:spPr>
      </p:pic>
    </p:spTree>
    <p:extLst>
      <p:ext uri="{BB962C8B-B14F-4D97-AF65-F5344CB8AC3E}">
        <p14:creationId xmlns:p14="http://schemas.microsoft.com/office/powerpoint/2010/main" val="3444947097"/>
      </p:ext>
    </p:extLst>
  </p:cSld>
  <p:clrMapOvr>
    <a:masterClrMapping/>
  </p:clrMapOvr>
  <mc:AlternateContent xmlns:mc="http://schemas.openxmlformats.org/markup-compatibility/2006" xmlns:p14="http://schemas.microsoft.com/office/powerpoint/2010/main">
    <mc:Choice Requires="p14">
      <p:transition spd="med" p14:dur="700" advTm="56815">
        <p:fade/>
      </p:transition>
    </mc:Choice>
    <mc:Fallback xmlns="">
      <p:transition spd="med" advTm="5681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81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67AD7-F1E6-6F84-CE52-86433BBF52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3A58C3-57A5-08A6-A395-BBFF95394C45}"/>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ctr">
              <a:spcAft>
                <a:spcPts val="600"/>
              </a:spcAft>
            </a:pPr>
            <a:r>
              <a:rPr lang="en-US" b="1" dirty="0"/>
              <a:t>Work Breakdown Structure (Cont.)</a:t>
            </a:r>
          </a:p>
        </p:txBody>
      </p:sp>
      <p:pic>
        <p:nvPicPr>
          <p:cNvPr id="10" name="Picture 9">
            <a:extLst>
              <a:ext uri="{FF2B5EF4-FFF2-40B4-BE49-F238E27FC236}">
                <a16:creationId xmlns:a16="http://schemas.microsoft.com/office/drawing/2014/main" id="{56770381-D1CE-DE40-D824-EA99D31E3CF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66115" y="3925302"/>
            <a:ext cx="5212282" cy="2336149"/>
          </a:xfrm>
          <a:prstGeom prst="rect">
            <a:avLst/>
          </a:prstGeom>
        </p:spPr>
      </p:pic>
      <p:pic>
        <p:nvPicPr>
          <p:cNvPr id="8" name="Picture 7">
            <a:extLst>
              <a:ext uri="{FF2B5EF4-FFF2-40B4-BE49-F238E27FC236}">
                <a16:creationId xmlns:a16="http://schemas.microsoft.com/office/drawing/2014/main" id="{8CC70E5C-4881-83E0-BFB9-48D0616942B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466118" y="1452386"/>
            <a:ext cx="5212282" cy="2756769"/>
          </a:xfrm>
          <a:prstGeom prst="rect">
            <a:avLst/>
          </a:prstGeom>
        </p:spPr>
      </p:pic>
      <p:pic>
        <p:nvPicPr>
          <p:cNvPr id="4" name="Picture 3">
            <a:extLst>
              <a:ext uri="{FF2B5EF4-FFF2-40B4-BE49-F238E27FC236}">
                <a16:creationId xmlns:a16="http://schemas.microsoft.com/office/drawing/2014/main" id="{F0F8D0C7-A552-A687-2F01-119897089B2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34146" y="1443055"/>
            <a:ext cx="5229368" cy="3170697"/>
          </a:xfrm>
          <a:prstGeom prst="rect">
            <a:avLst/>
          </a:prstGeom>
        </p:spPr>
      </p:pic>
      <p:sp>
        <p:nvSpPr>
          <p:cNvPr id="16" name="Rectangle 15">
            <a:extLst>
              <a:ext uri="{FF2B5EF4-FFF2-40B4-BE49-F238E27FC236}">
                <a16:creationId xmlns:a16="http://schemas.microsoft.com/office/drawing/2014/main" id="{D6413C69-7891-D349-FE0E-714C8A0230D6}"/>
              </a:ext>
            </a:extLst>
          </p:cNvPr>
          <p:cNvSpPr/>
          <p:nvPr/>
        </p:nvSpPr>
        <p:spPr>
          <a:xfrm>
            <a:off x="1066800" y="1041718"/>
            <a:ext cx="10698480"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pic>
        <p:nvPicPr>
          <p:cNvPr id="2" name="Slide 17">
            <a:hlinkClick r:id="" action="ppaction://media"/>
            <a:extLst>
              <a:ext uri="{FF2B5EF4-FFF2-40B4-BE49-F238E27FC236}">
                <a16:creationId xmlns:a16="http://schemas.microsoft.com/office/drawing/2014/main" id="{5A65F5A0-FEC4-8DF8-58ED-3615212FB14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9866" y="152397"/>
            <a:ext cx="487363" cy="487363"/>
          </a:xfrm>
          <a:prstGeom prst="rect">
            <a:avLst/>
          </a:prstGeom>
        </p:spPr>
      </p:pic>
    </p:spTree>
    <p:extLst>
      <p:ext uri="{BB962C8B-B14F-4D97-AF65-F5344CB8AC3E}">
        <p14:creationId xmlns:p14="http://schemas.microsoft.com/office/powerpoint/2010/main" val="3606130026"/>
      </p:ext>
    </p:extLst>
  </p:cSld>
  <p:clrMapOvr>
    <a:masterClrMapping/>
  </p:clrMapOvr>
  <mc:AlternateContent xmlns:mc="http://schemas.openxmlformats.org/markup-compatibility/2006" xmlns:p14="http://schemas.microsoft.com/office/powerpoint/2010/main">
    <mc:Choice Requires="p14">
      <p:transition spd="med" p14:dur="700" advTm="57989">
        <p:fade/>
      </p:transition>
    </mc:Choice>
    <mc:Fallback xmlns="">
      <p:transition spd="med" advTm="57989">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798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2314C-F9E9-3BA6-98D5-B87C3BD8F4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897CB8-2B7F-5716-7A98-C642E57D7535}"/>
              </a:ext>
            </a:extLst>
          </p:cNvPr>
          <p:cNvSpPr txBox="1">
            <a:spLocks/>
          </p:cNvSpPr>
          <p:nvPr/>
        </p:nvSpPr>
        <p:spPr>
          <a:xfrm>
            <a:off x="1066799" y="106680"/>
            <a:ext cx="1069848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ctr">
              <a:spcAft>
                <a:spcPts val="600"/>
              </a:spcAft>
            </a:pPr>
            <a:r>
              <a:rPr lang="en-US" b="1" dirty="0"/>
              <a:t>Project Schedule</a:t>
            </a:r>
          </a:p>
        </p:txBody>
      </p:sp>
      <p:pic>
        <p:nvPicPr>
          <p:cNvPr id="17" name="Picture 16">
            <a:extLst>
              <a:ext uri="{FF2B5EF4-FFF2-40B4-BE49-F238E27FC236}">
                <a16:creationId xmlns:a16="http://schemas.microsoft.com/office/drawing/2014/main" id="{75650096-5812-438D-6992-ABBA046927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79116" y="1319261"/>
            <a:ext cx="8664476" cy="1909990"/>
          </a:xfrm>
          <a:prstGeom prst="rect">
            <a:avLst/>
          </a:prstGeom>
        </p:spPr>
      </p:pic>
      <p:pic>
        <p:nvPicPr>
          <p:cNvPr id="25" name="Picture 24">
            <a:extLst>
              <a:ext uri="{FF2B5EF4-FFF2-40B4-BE49-F238E27FC236}">
                <a16:creationId xmlns:a16="http://schemas.microsoft.com/office/drawing/2014/main" id="{C2B5CA1C-943F-4810-D8A6-0E13AE81E9C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79909" y="3330811"/>
            <a:ext cx="8678836" cy="1663932"/>
          </a:xfrm>
          <a:prstGeom prst="rect">
            <a:avLst/>
          </a:prstGeom>
        </p:spPr>
      </p:pic>
      <p:sp>
        <p:nvSpPr>
          <p:cNvPr id="4" name="Rectangle 3">
            <a:extLst>
              <a:ext uri="{FF2B5EF4-FFF2-40B4-BE49-F238E27FC236}">
                <a16:creationId xmlns:a16="http://schemas.microsoft.com/office/drawing/2014/main" id="{72A4178B-FA7E-CFB6-884F-4C627699B4C4}"/>
              </a:ext>
            </a:extLst>
          </p:cNvPr>
          <p:cNvSpPr/>
          <p:nvPr/>
        </p:nvSpPr>
        <p:spPr>
          <a:xfrm>
            <a:off x="1066800" y="1041718"/>
            <a:ext cx="10698480"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pic>
        <p:nvPicPr>
          <p:cNvPr id="7" name="Picture 6">
            <a:extLst>
              <a:ext uri="{FF2B5EF4-FFF2-40B4-BE49-F238E27FC236}">
                <a16:creationId xmlns:a16="http://schemas.microsoft.com/office/drawing/2014/main" id="{DFDF96DF-30A0-49B6-AA95-751A5D3CA9B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92585" y="5106233"/>
            <a:ext cx="8651712" cy="1483358"/>
          </a:xfrm>
          <a:prstGeom prst="rect">
            <a:avLst/>
          </a:prstGeom>
        </p:spPr>
      </p:pic>
      <p:pic>
        <p:nvPicPr>
          <p:cNvPr id="2" name="Slide 18">
            <a:hlinkClick r:id="" action="ppaction://media"/>
            <a:extLst>
              <a:ext uri="{FF2B5EF4-FFF2-40B4-BE49-F238E27FC236}">
                <a16:creationId xmlns:a16="http://schemas.microsoft.com/office/drawing/2014/main" id="{A3991FDF-6988-0EB3-013D-D1C3AC582FE8}"/>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52240" y="152397"/>
            <a:ext cx="487363" cy="487363"/>
          </a:xfrm>
          <a:prstGeom prst="rect">
            <a:avLst/>
          </a:prstGeom>
        </p:spPr>
      </p:pic>
    </p:spTree>
    <p:extLst>
      <p:ext uri="{BB962C8B-B14F-4D97-AF65-F5344CB8AC3E}">
        <p14:creationId xmlns:p14="http://schemas.microsoft.com/office/powerpoint/2010/main" val="3409577061"/>
      </p:ext>
    </p:extLst>
  </p:cSld>
  <p:clrMapOvr>
    <a:masterClrMapping/>
  </p:clrMapOvr>
  <mc:AlternateContent xmlns:mc="http://schemas.openxmlformats.org/markup-compatibility/2006" xmlns:p14="http://schemas.microsoft.com/office/powerpoint/2010/main">
    <mc:Choice Requires="p14">
      <p:transition spd="med" p14:dur="700" advTm="58278">
        <p:fade/>
      </p:transition>
    </mc:Choice>
    <mc:Fallback xmlns="">
      <p:transition spd="med" advTm="5827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27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A1D0-8FD0-56D2-290C-6749161AEA33}"/>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45FEEA4E-02A2-952A-9604-922B0FD8BD5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79116" y="1335129"/>
            <a:ext cx="8664476" cy="1309915"/>
          </a:xfrm>
          <a:prstGeom prst="rect">
            <a:avLst/>
          </a:prstGeom>
        </p:spPr>
      </p:pic>
      <p:pic>
        <p:nvPicPr>
          <p:cNvPr id="6" name="Picture 5">
            <a:extLst>
              <a:ext uri="{FF2B5EF4-FFF2-40B4-BE49-F238E27FC236}">
                <a16:creationId xmlns:a16="http://schemas.microsoft.com/office/drawing/2014/main" id="{6D9A1726-3988-99DD-7BAD-F614C5DD13F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79116" y="2762837"/>
            <a:ext cx="8664476" cy="1309916"/>
          </a:xfrm>
          <a:prstGeom prst="rect">
            <a:avLst/>
          </a:prstGeom>
        </p:spPr>
      </p:pic>
      <p:sp>
        <p:nvSpPr>
          <p:cNvPr id="4" name="Rectangle 3">
            <a:extLst>
              <a:ext uri="{FF2B5EF4-FFF2-40B4-BE49-F238E27FC236}">
                <a16:creationId xmlns:a16="http://schemas.microsoft.com/office/drawing/2014/main" id="{80E1BF83-FA94-35FA-2712-B4D4080084CA}"/>
              </a:ext>
            </a:extLst>
          </p:cNvPr>
          <p:cNvSpPr/>
          <p:nvPr/>
        </p:nvSpPr>
        <p:spPr>
          <a:xfrm>
            <a:off x="1066800" y="1041718"/>
            <a:ext cx="10698480"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8" name="Title 2">
            <a:extLst>
              <a:ext uri="{FF2B5EF4-FFF2-40B4-BE49-F238E27FC236}">
                <a16:creationId xmlns:a16="http://schemas.microsoft.com/office/drawing/2014/main" id="{CD527220-0FCF-0CA5-0C62-3B3DF432E774}"/>
              </a:ext>
            </a:extLst>
          </p:cNvPr>
          <p:cNvSpPr txBox="1">
            <a:spLocks/>
          </p:cNvSpPr>
          <p:nvPr/>
        </p:nvSpPr>
        <p:spPr>
          <a:xfrm>
            <a:off x="1066799" y="106680"/>
            <a:ext cx="1069848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ctr">
              <a:spcAft>
                <a:spcPts val="600"/>
              </a:spcAft>
            </a:pPr>
            <a:r>
              <a:rPr lang="en-US" b="1" dirty="0"/>
              <a:t>Project Schedule (Cont.)</a:t>
            </a:r>
          </a:p>
        </p:txBody>
      </p:sp>
      <p:pic>
        <p:nvPicPr>
          <p:cNvPr id="12" name="Picture 11">
            <a:extLst>
              <a:ext uri="{FF2B5EF4-FFF2-40B4-BE49-F238E27FC236}">
                <a16:creationId xmlns:a16="http://schemas.microsoft.com/office/drawing/2014/main" id="{D0A89522-257B-2712-D814-EE2DB03923E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79116" y="4186032"/>
            <a:ext cx="8664476" cy="1309916"/>
          </a:xfrm>
          <a:prstGeom prst="rect">
            <a:avLst/>
          </a:prstGeom>
        </p:spPr>
      </p:pic>
      <p:pic>
        <p:nvPicPr>
          <p:cNvPr id="3" name="Slide 19">
            <a:hlinkClick r:id="" action="ppaction://media"/>
            <a:extLst>
              <a:ext uri="{FF2B5EF4-FFF2-40B4-BE49-F238E27FC236}">
                <a16:creationId xmlns:a16="http://schemas.microsoft.com/office/drawing/2014/main" id="{B5AD4332-B98E-E52E-3B4B-A7129066503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567159" y="137160"/>
            <a:ext cx="487363" cy="487363"/>
          </a:xfrm>
          <a:prstGeom prst="rect">
            <a:avLst/>
          </a:prstGeom>
        </p:spPr>
      </p:pic>
    </p:spTree>
    <p:extLst>
      <p:ext uri="{BB962C8B-B14F-4D97-AF65-F5344CB8AC3E}">
        <p14:creationId xmlns:p14="http://schemas.microsoft.com/office/powerpoint/2010/main" val="2634494083"/>
      </p:ext>
    </p:extLst>
  </p:cSld>
  <p:clrMapOvr>
    <a:masterClrMapping/>
  </p:clrMapOvr>
  <mc:AlternateContent xmlns:mc="http://schemas.openxmlformats.org/markup-compatibility/2006" xmlns:p14="http://schemas.microsoft.com/office/powerpoint/2010/main">
    <mc:Choice Requires="p14">
      <p:transition spd="med" p14:dur="700" advTm="43964">
        <p:fade/>
      </p:transition>
    </mc:Choice>
    <mc:Fallback xmlns="">
      <p:transition spd="med" advTm="4396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11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2A4D-7961-DA9F-643D-D7AAA31A9EF2}"/>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CBE1B8F4-52C3-925C-7412-0BE0B3BC9648}"/>
              </a:ext>
            </a:extLst>
          </p:cNvPr>
          <p:cNvPicPr>
            <a:picLocks noChangeAspect="1"/>
          </p:cNvPicPr>
          <p:nvPr/>
        </p:nvPicPr>
        <p:blipFill>
          <a:blip r:embed="rId4">
            <a:extLst>
              <a:ext uri="{28A0092B-C50C-407E-A947-70E740481C1C}">
                <a14:useLocalDpi xmlns:a14="http://schemas.microsoft.com/office/drawing/2010/main" val="0"/>
              </a:ext>
            </a:extLst>
          </a:blip>
          <a:srcRect b="28773"/>
          <a:stretch>
            <a:fillRect/>
          </a:stretch>
        </p:blipFill>
        <p:spPr>
          <a:xfrm>
            <a:off x="1879116" y="1376076"/>
            <a:ext cx="8664476" cy="1808689"/>
          </a:xfrm>
          <a:prstGeom prst="rect">
            <a:avLst/>
          </a:prstGeom>
        </p:spPr>
      </p:pic>
      <p:pic>
        <p:nvPicPr>
          <p:cNvPr id="7" name="Picture 6">
            <a:extLst>
              <a:ext uri="{FF2B5EF4-FFF2-40B4-BE49-F238E27FC236}">
                <a16:creationId xmlns:a16="http://schemas.microsoft.com/office/drawing/2014/main" id="{34E4B6F1-AACC-26B8-F598-266F293A946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879115" y="3341858"/>
            <a:ext cx="8664477" cy="2009968"/>
          </a:xfrm>
          <a:prstGeom prst="rect">
            <a:avLst/>
          </a:prstGeom>
        </p:spPr>
      </p:pic>
      <p:sp>
        <p:nvSpPr>
          <p:cNvPr id="9" name="Rectangle 8">
            <a:extLst>
              <a:ext uri="{FF2B5EF4-FFF2-40B4-BE49-F238E27FC236}">
                <a16:creationId xmlns:a16="http://schemas.microsoft.com/office/drawing/2014/main" id="{2541977C-018B-175C-CB70-CE782D72568E}"/>
              </a:ext>
            </a:extLst>
          </p:cNvPr>
          <p:cNvSpPr/>
          <p:nvPr/>
        </p:nvSpPr>
        <p:spPr>
          <a:xfrm>
            <a:off x="1066800" y="1041718"/>
            <a:ext cx="10698480"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11" name="Title 2">
            <a:extLst>
              <a:ext uri="{FF2B5EF4-FFF2-40B4-BE49-F238E27FC236}">
                <a16:creationId xmlns:a16="http://schemas.microsoft.com/office/drawing/2014/main" id="{858C44CD-73A9-B60D-B3CF-15FFBDD1F4AD}"/>
              </a:ext>
            </a:extLst>
          </p:cNvPr>
          <p:cNvSpPr txBox="1">
            <a:spLocks/>
          </p:cNvSpPr>
          <p:nvPr/>
        </p:nvSpPr>
        <p:spPr>
          <a:xfrm>
            <a:off x="1066799" y="106680"/>
            <a:ext cx="1069848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lgn="ctr">
              <a:spcAft>
                <a:spcPts val="600"/>
              </a:spcAft>
            </a:pPr>
            <a:r>
              <a:rPr lang="en-US" b="1" dirty="0"/>
              <a:t>Project Schedule (Cont.)</a:t>
            </a:r>
          </a:p>
        </p:txBody>
      </p:sp>
      <p:pic>
        <p:nvPicPr>
          <p:cNvPr id="3" name="Slide 20">
            <a:hlinkClick r:id="" action="ppaction://media"/>
            <a:extLst>
              <a:ext uri="{FF2B5EF4-FFF2-40B4-BE49-F238E27FC236}">
                <a16:creationId xmlns:a16="http://schemas.microsoft.com/office/drawing/2014/main" id="{062679D5-CA39-490C-92A0-1E0BD6AE194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597639" y="137318"/>
            <a:ext cx="487363" cy="487363"/>
          </a:xfrm>
          <a:prstGeom prst="rect">
            <a:avLst/>
          </a:prstGeom>
        </p:spPr>
      </p:pic>
    </p:spTree>
    <p:extLst>
      <p:ext uri="{BB962C8B-B14F-4D97-AF65-F5344CB8AC3E}">
        <p14:creationId xmlns:p14="http://schemas.microsoft.com/office/powerpoint/2010/main" val="75412151"/>
      </p:ext>
    </p:extLst>
  </p:cSld>
  <p:clrMapOvr>
    <a:masterClrMapping/>
  </p:clrMapOvr>
  <mc:AlternateContent xmlns:mc="http://schemas.openxmlformats.org/markup-compatibility/2006" xmlns:p14="http://schemas.microsoft.com/office/powerpoint/2010/main">
    <mc:Choice Requires="p14">
      <p:transition spd="med" p14:dur="700" advTm="50402">
        <p:fade/>
      </p:transition>
    </mc:Choice>
    <mc:Fallback xmlns="">
      <p:transition spd="med" advTm="5040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624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4BD63-B0E5-81EA-2746-CA817A27DE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AC7201-FD21-1840-2B25-A2B01F685D06}"/>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Validation</a:t>
            </a:r>
          </a:p>
        </p:txBody>
      </p:sp>
      <p:sp>
        <p:nvSpPr>
          <p:cNvPr id="5" name="Rectangle 4">
            <a:extLst>
              <a:ext uri="{FF2B5EF4-FFF2-40B4-BE49-F238E27FC236}">
                <a16:creationId xmlns:a16="http://schemas.microsoft.com/office/drawing/2014/main" id="{F43296EE-8A8F-93F2-EE80-28B99D5D9D29}"/>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81F5F7F8-2983-0D8E-FFB4-CA9F4D161E8D}"/>
              </a:ext>
            </a:extLst>
          </p:cNvPr>
          <p:cNvSpPr txBox="1"/>
          <p:nvPr/>
        </p:nvSpPr>
        <p:spPr>
          <a:xfrm>
            <a:off x="990601" y="1410680"/>
            <a:ext cx="10220960" cy="4632037"/>
          </a:xfrm>
          <a:prstGeom prst="rect">
            <a:avLst/>
          </a:prstGeom>
          <a:noFill/>
        </p:spPr>
        <p:txBody>
          <a:bodyPr wrap="square" rtlCol="0">
            <a:spAutoFit/>
          </a:bodyPr>
          <a:lstStyle/>
          <a:p>
            <a:pPr>
              <a:spcAft>
                <a:spcPts val="1200"/>
              </a:spcAft>
            </a:pPr>
            <a:r>
              <a:rPr lang="en-US" sz="1700" b="1" dirty="0">
                <a:solidFill>
                  <a:srgbClr val="00B0F0"/>
                </a:solidFill>
              </a:rPr>
              <a:t>Accuracy Testing</a:t>
            </a:r>
            <a:br>
              <a:rPr lang="en-US" sz="1700" b="1" dirty="0">
                <a:solidFill>
                  <a:srgbClr val="00B0F0"/>
                </a:solidFill>
              </a:rPr>
            </a:br>
            <a:r>
              <a:rPr lang="en-US" sz="1700" dirty="0"/>
              <a:t>Calibrate UWB tags and ceiling gateways on a targeted hospital floor to ensure each equipment’s location is accurately tracked.</a:t>
            </a:r>
          </a:p>
          <a:p>
            <a:pPr>
              <a:spcAft>
                <a:spcPts val="1200"/>
              </a:spcAft>
            </a:pPr>
            <a:r>
              <a:rPr lang="en-US" sz="1700" b="1" dirty="0">
                <a:solidFill>
                  <a:srgbClr val="00B0F0"/>
                </a:solidFill>
              </a:rPr>
              <a:t>Network &amp; VLAN Security Verification</a:t>
            </a:r>
            <a:br>
              <a:rPr lang="en-US" sz="1700" b="1" dirty="0">
                <a:solidFill>
                  <a:srgbClr val="00B0F0"/>
                </a:solidFill>
              </a:rPr>
            </a:br>
            <a:r>
              <a:rPr lang="en-US" sz="1700" dirty="0"/>
              <a:t>Conduct security audits on the dedicated, encrypted Wi-Fi VLAN to guarantee isolation from hospital Electronic Health Records.</a:t>
            </a:r>
          </a:p>
          <a:p>
            <a:pPr>
              <a:spcAft>
                <a:spcPts val="1200"/>
              </a:spcAft>
            </a:pPr>
            <a:r>
              <a:rPr lang="en-US" sz="1700" b="1" dirty="0">
                <a:solidFill>
                  <a:srgbClr val="00B0F0"/>
                </a:solidFill>
              </a:rPr>
              <a:t>Nurse Search Time Benchmarking</a:t>
            </a:r>
            <a:br>
              <a:rPr lang="en-US" sz="1700" dirty="0"/>
            </a:br>
            <a:r>
              <a:rPr lang="en-US" sz="1700" dirty="0"/>
              <a:t>Run timed simulations with a test group of nurses to compare manual search times against the IoT ecosystem’s search speeds before full rollout.</a:t>
            </a:r>
          </a:p>
          <a:p>
            <a:pPr>
              <a:spcAft>
                <a:spcPts val="1200"/>
              </a:spcAft>
            </a:pPr>
            <a:r>
              <a:rPr lang="en-US" sz="1700" b="1" dirty="0">
                <a:solidFill>
                  <a:srgbClr val="00B0F0"/>
                </a:solidFill>
              </a:rPr>
              <a:t>UI/UX Usability Assessments</a:t>
            </a:r>
            <a:br>
              <a:rPr lang="en-US" sz="1700" dirty="0"/>
            </a:br>
            <a:r>
              <a:rPr lang="en-US" sz="1700" dirty="0"/>
              <a:t>Conduct user acceptance testing (UAT) with floor and charge nurses to ensure maps are intuitive, as well as fast to navigate.</a:t>
            </a:r>
          </a:p>
          <a:p>
            <a:pPr>
              <a:spcAft>
                <a:spcPts val="1200"/>
              </a:spcAft>
            </a:pPr>
            <a:r>
              <a:rPr lang="en-US" sz="1700" b="1" dirty="0">
                <a:solidFill>
                  <a:srgbClr val="00B0F0"/>
                </a:solidFill>
              </a:rPr>
              <a:t>Stress Testing</a:t>
            </a:r>
            <a:br>
              <a:rPr lang="en-US" sz="1700" dirty="0"/>
            </a:br>
            <a:r>
              <a:rPr lang="en-US" sz="1700" dirty="0"/>
              <a:t>Simulate peak network load with hundreds of active tags transmitting concurrently to verify database performance and uninterrupted server uptime.</a:t>
            </a:r>
          </a:p>
        </p:txBody>
      </p:sp>
      <p:pic>
        <p:nvPicPr>
          <p:cNvPr id="2" name="Slide 21">
            <a:hlinkClick r:id="" action="ppaction://media"/>
            <a:extLst>
              <a:ext uri="{FF2B5EF4-FFF2-40B4-BE49-F238E27FC236}">
                <a16:creationId xmlns:a16="http://schemas.microsoft.com/office/drawing/2014/main" id="{156B29B6-60CE-F201-E70B-130542E467E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2688708319"/>
      </p:ext>
    </p:extLst>
  </p:cSld>
  <p:clrMapOvr>
    <a:masterClrMapping/>
  </p:clrMapOvr>
  <mc:AlternateContent xmlns:mc="http://schemas.openxmlformats.org/markup-compatibility/2006" xmlns:p14="http://schemas.microsoft.com/office/powerpoint/2010/main">
    <mc:Choice Requires="p14">
      <p:transition spd="med" p14:dur="700" advTm="40642">
        <p:fade/>
      </p:transition>
    </mc:Choice>
    <mc:Fallback xmlns="">
      <p:transition spd="med" advTm="4064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64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66202-BF81-D7CA-23B1-C3050C5581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5DE8D46-CC70-EBCC-692B-F860B2D73DF1}"/>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Evaluation &amp; Continuous Improvement </a:t>
            </a:r>
          </a:p>
        </p:txBody>
      </p:sp>
      <p:sp>
        <p:nvSpPr>
          <p:cNvPr id="5" name="Rectangle 4">
            <a:extLst>
              <a:ext uri="{FF2B5EF4-FFF2-40B4-BE49-F238E27FC236}">
                <a16:creationId xmlns:a16="http://schemas.microsoft.com/office/drawing/2014/main" id="{526B7C72-B242-D150-706F-21F802417571}"/>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7974F582-FB30-5214-4CDF-4C397C2BE1E1}"/>
              </a:ext>
            </a:extLst>
          </p:cNvPr>
          <p:cNvSpPr txBox="1"/>
          <p:nvPr/>
        </p:nvSpPr>
        <p:spPr>
          <a:xfrm>
            <a:off x="990601" y="1143373"/>
            <a:ext cx="5838824" cy="5601533"/>
          </a:xfrm>
          <a:prstGeom prst="rect">
            <a:avLst/>
          </a:prstGeom>
          <a:noFill/>
        </p:spPr>
        <p:txBody>
          <a:bodyPr wrap="square" rtlCol="0">
            <a:spAutoFit/>
          </a:bodyPr>
          <a:lstStyle/>
          <a:p>
            <a:pPr>
              <a:spcAft>
                <a:spcPts val="600"/>
              </a:spcAft>
            </a:pPr>
            <a:r>
              <a:rPr lang="en-US" sz="2200" b="1" dirty="0">
                <a:solidFill>
                  <a:schemeClr val="tx1">
                    <a:lumMod val="95000"/>
                  </a:schemeClr>
                </a:solidFill>
              </a:rPr>
              <a:t>Evaluation Metrics</a:t>
            </a:r>
          </a:p>
          <a:p>
            <a:pPr>
              <a:spcAft>
                <a:spcPts val="600"/>
              </a:spcAft>
            </a:pPr>
            <a:r>
              <a:rPr lang="en-US" sz="1650" b="1" dirty="0">
                <a:solidFill>
                  <a:srgbClr val="00B0F0"/>
                </a:solidFill>
              </a:rPr>
              <a:t>Efficiency &amp; Time Savings</a:t>
            </a:r>
            <a:br>
              <a:rPr lang="en-US" sz="1650" dirty="0"/>
            </a:br>
            <a:r>
              <a:rPr lang="en-US" sz="1650" dirty="0"/>
              <a:t>Track equipment lookup reductions and clinical hours returned to patient care.</a:t>
            </a:r>
          </a:p>
          <a:p>
            <a:pPr>
              <a:spcAft>
                <a:spcPts val="600"/>
              </a:spcAft>
            </a:pPr>
            <a:r>
              <a:rPr lang="en-US" sz="1650" b="1" dirty="0">
                <a:solidFill>
                  <a:srgbClr val="00B0F0"/>
                </a:solidFill>
              </a:rPr>
              <a:t>Financial Return on Investment (ROI)</a:t>
            </a:r>
            <a:br>
              <a:rPr lang="en-US" sz="1650" b="1" dirty="0">
                <a:solidFill>
                  <a:srgbClr val="00B0F0"/>
                </a:solidFill>
              </a:rPr>
            </a:br>
            <a:r>
              <a:rPr lang="en-US" sz="1650" dirty="0"/>
              <a:t>Quantify savings from reduced asset loss, zero duplicate purchasing, and labor efficiency gains.</a:t>
            </a:r>
          </a:p>
          <a:p>
            <a:pPr>
              <a:spcAft>
                <a:spcPts val="600"/>
              </a:spcAft>
            </a:pPr>
            <a:r>
              <a:rPr lang="en-US" sz="1650" b="1" dirty="0">
                <a:solidFill>
                  <a:srgbClr val="00B0F0"/>
                </a:solidFill>
              </a:rPr>
              <a:t>System Health &amp; Tracking Accuracy</a:t>
            </a:r>
            <a:br>
              <a:rPr lang="en-US" sz="1650" dirty="0"/>
            </a:br>
            <a:r>
              <a:rPr lang="en-US" sz="1650" dirty="0"/>
              <a:t>Monitor UWB gateway network uptime, signal precision, tag battery levels, and registry validity.</a:t>
            </a:r>
          </a:p>
          <a:p>
            <a:pPr>
              <a:spcAft>
                <a:spcPts val="600"/>
              </a:spcAft>
            </a:pPr>
            <a:r>
              <a:rPr lang="en-US" sz="1650" b="1" dirty="0">
                <a:solidFill>
                  <a:srgbClr val="00B0F0"/>
                </a:solidFill>
              </a:rPr>
              <a:t>User Experience &amp; Adoption</a:t>
            </a:r>
            <a:br>
              <a:rPr lang="en-US" sz="1650" b="1" dirty="0">
                <a:solidFill>
                  <a:srgbClr val="00B0F0"/>
                </a:solidFill>
              </a:rPr>
            </a:br>
            <a:r>
              <a:rPr lang="en-US" sz="1650" dirty="0"/>
              <a:t>Collect nurse feedback on dashboard UI clarity, mobile responsiveness, and map accuracy.</a:t>
            </a:r>
            <a:endParaRPr lang="en-US" sz="1650" b="1" dirty="0">
              <a:solidFill>
                <a:srgbClr val="00B0F0"/>
              </a:solidFill>
            </a:endParaRPr>
          </a:p>
          <a:p>
            <a:pPr>
              <a:spcAft>
                <a:spcPts val="600"/>
              </a:spcAft>
            </a:pPr>
            <a:r>
              <a:rPr lang="en-US" sz="1650" b="1" dirty="0">
                <a:solidFill>
                  <a:srgbClr val="00B0F0"/>
                </a:solidFill>
              </a:rPr>
              <a:t>Infrastructure &amp; Load Performance</a:t>
            </a:r>
            <a:br>
              <a:rPr lang="en-US" sz="1650" dirty="0"/>
            </a:br>
            <a:r>
              <a:rPr lang="en-US" sz="1650" dirty="0"/>
              <a:t>Audit DB query speeds, network bandwidth usage, and peak-time map render times.</a:t>
            </a:r>
          </a:p>
          <a:p>
            <a:pPr>
              <a:spcAft>
                <a:spcPts val="1200"/>
              </a:spcAft>
            </a:pPr>
            <a:r>
              <a:rPr lang="en-US" sz="1650" b="1" dirty="0">
                <a:solidFill>
                  <a:srgbClr val="00B0F0"/>
                </a:solidFill>
              </a:rPr>
              <a:t>Security &amp; Compliance</a:t>
            </a:r>
            <a:br>
              <a:rPr lang="en-US" sz="1650" dirty="0"/>
            </a:br>
            <a:r>
              <a:rPr lang="en-US" sz="1650" dirty="0"/>
              <a:t>Perform periodic audits on encrypted VLAN traffic and system logs for HIPAA compliance</a:t>
            </a:r>
          </a:p>
        </p:txBody>
      </p:sp>
      <p:sp>
        <p:nvSpPr>
          <p:cNvPr id="6" name="TextBox 5">
            <a:extLst>
              <a:ext uri="{FF2B5EF4-FFF2-40B4-BE49-F238E27FC236}">
                <a16:creationId xmlns:a16="http://schemas.microsoft.com/office/drawing/2014/main" id="{C77FC41A-2BB7-7541-BAC2-CBA6984CEE8F}"/>
              </a:ext>
            </a:extLst>
          </p:cNvPr>
          <p:cNvSpPr txBox="1"/>
          <p:nvPr/>
        </p:nvSpPr>
        <p:spPr>
          <a:xfrm>
            <a:off x="7019925" y="1160307"/>
            <a:ext cx="4191636" cy="4139595"/>
          </a:xfrm>
          <a:prstGeom prst="rect">
            <a:avLst/>
          </a:prstGeom>
          <a:noFill/>
        </p:spPr>
        <p:txBody>
          <a:bodyPr wrap="square" rtlCol="0">
            <a:spAutoFit/>
          </a:bodyPr>
          <a:lstStyle/>
          <a:p>
            <a:pPr>
              <a:spcAft>
                <a:spcPts val="600"/>
              </a:spcAft>
            </a:pPr>
            <a:r>
              <a:rPr lang="en-US" sz="2200" b="1" dirty="0">
                <a:solidFill>
                  <a:schemeClr val="tx1">
                    <a:lumMod val="95000"/>
                  </a:schemeClr>
                </a:solidFill>
              </a:rPr>
              <a:t>Continuous Improvement</a:t>
            </a:r>
          </a:p>
          <a:p>
            <a:pPr>
              <a:spcAft>
                <a:spcPts val="600"/>
              </a:spcAft>
            </a:pPr>
            <a:r>
              <a:rPr lang="en-US" sz="1650" b="1" dirty="0">
                <a:solidFill>
                  <a:srgbClr val="00B0F0"/>
                </a:solidFill>
              </a:rPr>
              <a:t>Asset Redistribution</a:t>
            </a:r>
            <a:br>
              <a:rPr lang="en-US" sz="1650" dirty="0"/>
            </a:br>
            <a:r>
              <a:rPr lang="en-US" sz="1650" dirty="0"/>
              <a:t>Analyze movement trends to stage equipment across units prior to peak shifts.</a:t>
            </a:r>
          </a:p>
          <a:p>
            <a:pPr>
              <a:spcAft>
                <a:spcPts val="600"/>
              </a:spcAft>
            </a:pPr>
            <a:r>
              <a:rPr lang="en-US" sz="1650" b="1" dirty="0">
                <a:solidFill>
                  <a:srgbClr val="00B0F0"/>
                </a:solidFill>
              </a:rPr>
              <a:t>Workflow Refinement</a:t>
            </a:r>
            <a:br>
              <a:rPr lang="en-US" sz="1650" dirty="0"/>
            </a:br>
            <a:r>
              <a:rPr lang="en-US" sz="1650" dirty="0"/>
              <a:t>Optimize UI, search filters, and inventory alert thresholds based on floor nurse input.</a:t>
            </a:r>
          </a:p>
          <a:p>
            <a:pPr>
              <a:spcAft>
                <a:spcPts val="600"/>
              </a:spcAft>
            </a:pPr>
            <a:r>
              <a:rPr lang="en-US" sz="1650" b="1" dirty="0">
                <a:solidFill>
                  <a:srgbClr val="00B0F0"/>
                </a:solidFill>
              </a:rPr>
              <a:t>Proactive Maintenance</a:t>
            </a:r>
            <a:br>
              <a:rPr lang="en-US" sz="1650" dirty="0"/>
            </a:br>
            <a:r>
              <a:rPr lang="en-US" sz="1650" dirty="0"/>
              <a:t>Run automated battery health checks, periodic gateway RF recalibrations, and security patches.</a:t>
            </a:r>
          </a:p>
          <a:p>
            <a:pPr>
              <a:spcAft>
                <a:spcPts val="1200"/>
              </a:spcAft>
            </a:pPr>
            <a:r>
              <a:rPr lang="en-US" sz="1650" b="1" dirty="0">
                <a:solidFill>
                  <a:srgbClr val="00B0F0"/>
                </a:solidFill>
              </a:rPr>
              <a:t>Training &amp; Expansion</a:t>
            </a:r>
            <a:br>
              <a:rPr lang="en-US" sz="1650" dirty="0"/>
            </a:br>
            <a:r>
              <a:rPr lang="en-US" sz="1650" dirty="0"/>
              <a:t>Refine onboarding programs and evaluate expanding UWB coverage to additional floors.</a:t>
            </a:r>
          </a:p>
        </p:txBody>
      </p:sp>
      <p:pic>
        <p:nvPicPr>
          <p:cNvPr id="2" name="Slide 22">
            <a:hlinkClick r:id="" action="ppaction://media"/>
            <a:extLst>
              <a:ext uri="{FF2B5EF4-FFF2-40B4-BE49-F238E27FC236}">
                <a16:creationId xmlns:a16="http://schemas.microsoft.com/office/drawing/2014/main" id="{CA80C8DE-73E3-C7ED-7DFA-1DE1AA5B770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1824581137"/>
      </p:ext>
    </p:extLst>
  </p:cSld>
  <p:clrMapOvr>
    <a:masterClrMapping/>
  </p:clrMapOvr>
  <mc:AlternateContent xmlns:mc="http://schemas.openxmlformats.org/markup-compatibility/2006" xmlns:p14="http://schemas.microsoft.com/office/powerpoint/2010/main">
    <mc:Choice Requires="p14">
      <p:transition spd="med" p14:dur="700" advTm="48744">
        <p:fade/>
      </p:transition>
    </mc:Choice>
    <mc:Fallback xmlns="">
      <p:transition spd="med" advTm="4874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74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406C-AA16-7A4A-D981-373B6052A96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0D256C-EBF3-C792-C6AE-B0DD032C2406}"/>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Legal, Ethical, and Cultural Considerations</a:t>
            </a:r>
          </a:p>
        </p:txBody>
      </p:sp>
      <p:sp>
        <p:nvSpPr>
          <p:cNvPr id="5" name="Rectangle 4">
            <a:extLst>
              <a:ext uri="{FF2B5EF4-FFF2-40B4-BE49-F238E27FC236}">
                <a16:creationId xmlns:a16="http://schemas.microsoft.com/office/drawing/2014/main" id="{C0784438-CBA5-CA4E-F2B9-F22E40067F6E}"/>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D0ADCF9F-83E1-A51E-07F0-DA6F36CA246A}"/>
              </a:ext>
            </a:extLst>
          </p:cNvPr>
          <p:cNvSpPr txBox="1"/>
          <p:nvPr/>
        </p:nvSpPr>
        <p:spPr>
          <a:xfrm>
            <a:off x="990601" y="1329644"/>
            <a:ext cx="3257549" cy="4401205"/>
          </a:xfrm>
          <a:prstGeom prst="rect">
            <a:avLst/>
          </a:prstGeom>
          <a:noFill/>
        </p:spPr>
        <p:txBody>
          <a:bodyPr wrap="square" rtlCol="0">
            <a:spAutoFit/>
          </a:bodyPr>
          <a:lstStyle/>
          <a:p>
            <a:pPr>
              <a:spcAft>
                <a:spcPts val="1200"/>
              </a:spcAft>
            </a:pPr>
            <a:r>
              <a:rPr lang="en-US" sz="2200" b="1" dirty="0">
                <a:solidFill>
                  <a:srgbClr val="00B0F0"/>
                </a:solidFill>
              </a:rPr>
              <a:t>Legal Considerations</a:t>
            </a:r>
          </a:p>
          <a:p>
            <a:pPr>
              <a:spcAft>
                <a:spcPts val="600"/>
              </a:spcAft>
            </a:pPr>
            <a:r>
              <a:rPr lang="en-US" sz="1700" dirty="0">
                <a:solidFill>
                  <a:srgbClr val="00B0F0"/>
                </a:solidFill>
              </a:rPr>
              <a:t>•</a:t>
            </a:r>
            <a:r>
              <a:rPr lang="en-US" sz="1700" dirty="0"/>
              <a:t> HIPAA Compliance: Strict </a:t>
            </a:r>
            <a:br>
              <a:rPr lang="en-US" sz="1700" dirty="0"/>
            </a:br>
            <a:r>
              <a:rPr lang="en-US" sz="1700" dirty="0"/>
              <a:t>   adherence ensures location </a:t>
            </a:r>
            <a:br>
              <a:rPr lang="en-US" sz="1700" dirty="0"/>
            </a:br>
            <a:r>
              <a:rPr lang="en-US" sz="1700" dirty="0"/>
              <a:t>   tracking is completely isolated </a:t>
            </a:r>
            <a:br>
              <a:rPr lang="en-US" sz="1700" dirty="0"/>
            </a:br>
            <a:r>
              <a:rPr lang="en-US" sz="1700" dirty="0"/>
              <a:t>   from patient records and </a:t>
            </a:r>
            <a:br>
              <a:rPr lang="en-US" sz="1700" dirty="0"/>
            </a:br>
            <a:r>
              <a:rPr lang="en-US" sz="1700" dirty="0"/>
              <a:t>   sensitive clinical data.</a:t>
            </a:r>
          </a:p>
          <a:p>
            <a:pPr>
              <a:spcAft>
                <a:spcPts val="600"/>
              </a:spcAft>
            </a:pPr>
            <a:r>
              <a:rPr lang="en-US" sz="1700" dirty="0">
                <a:solidFill>
                  <a:srgbClr val="00B0F0"/>
                </a:solidFill>
              </a:rPr>
              <a:t>•</a:t>
            </a:r>
            <a:r>
              <a:rPr lang="en-US" sz="1700" dirty="0"/>
              <a:t> Access &amp; Logs: System logs and </a:t>
            </a:r>
            <a:br>
              <a:rPr lang="en-US" sz="1700" dirty="0"/>
            </a:br>
            <a:r>
              <a:rPr lang="en-US" sz="1700" dirty="0"/>
              <a:t>   user access permissions </a:t>
            </a:r>
            <a:br>
              <a:rPr lang="en-US" sz="1700" dirty="0"/>
            </a:br>
            <a:r>
              <a:rPr lang="en-US" sz="1700" dirty="0"/>
              <a:t>   undergo regular audits to </a:t>
            </a:r>
            <a:br>
              <a:rPr lang="en-US" sz="1700" dirty="0"/>
            </a:br>
            <a:r>
              <a:rPr lang="en-US" sz="1700" dirty="0"/>
              <a:t>   comply with hospital policies.</a:t>
            </a:r>
          </a:p>
          <a:p>
            <a:pPr>
              <a:spcAft>
                <a:spcPts val="1200"/>
              </a:spcAft>
            </a:pPr>
            <a:r>
              <a:rPr lang="en-US" sz="1700" dirty="0">
                <a:solidFill>
                  <a:srgbClr val="00B0F0"/>
                </a:solidFill>
              </a:rPr>
              <a:t>•</a:t>
            </a:r>
            <a:r>
              <a:rPr lang="en-US" sz="1700" dirty="0"/>
              <a:t> Hardware Safety: Ceiling </a:t>
            </a:r>
            <a:br>
              <a:rPr lang="en-US" sz="1700" dirty="0"/>
            </a:br>
            <a:r>
              <a:rPr lang="en-US" sz="1700" dirty="0"/>
              <a:t>   gateway installations and UWB </a:t>
            </a:r>
            <a:br>
              <a:rPr lang="en-US" sz="1700" dirty="0"/>
            </a:br>
            <a:r>
              <a:rPr lang="en-US" sz="1700" dirty="0"/>
              <a:t>   hardware strictly meet </a:t>
            </a:r>
            <a:br>
              <a:rPr lang="en-US" sz="1700" dirty="0"/>
            </a:br>
            <a:r>
              <a:rPr lang="en-US" sz="1700" dirty="0"/>
              <a:t>   healthcare facility safety </a:t>
            </a:r>
            <a:br>
              <a:rPr lang="en-US" sz="1700" dirty="0"/>
            </a:br>
            <a:r>
              <a:rPr lang="en-US" sz="1700" dirty="0"/>
              <a:t>   standards.</a:t>
            </a:r>
          </a:p>
        </p:txBody>
      </p:sp>
      <p:sp>
        <p:nvSpPr>
          <p:cNvPr id="6" name="TextBox 5">
            <a:extLst>
              <a:ext uri="{FF2B5EF4-FFF2-40B4-BE49-F238E27FC236}">
                <a16:creationId xmlns:a16="http://schemas.microsoft.com/office/drawing/2014/main" id="{FBFCEABA-64B4-6E49-5020-517E21DDC5D8}"/>
              </a:ext>
            </a:extLst>
          </p:cNvPr>
          <p:cNvSpPr txBox="1"/>
          <p:nvPr/>
        </p:nvSpPr>
        <p:spPr>
          <a:xfrm>
            <a:off x="4667251" y="1329644"/>
            <a:ext cx="3067049" cy="4924425"/>
          </a:xfrm>
          <a:prstGeom prst="rect">
            <a:avLst/>
          </a:prstGeom>
          <a:noFill/>
        </p:spPr>
        <p:txBody>
          <a:bodyPr wrap="square" rtlCol="0">
            <a:spAutoFit/>
          </a:bodyPr>
          <a:lstStyle/>
          <a:p>
            <a:pPr>
              <a:spcAft>
                <a:spcPts val="1200"/>
              </a:spcAft>
            </a:pPr>
            <a:r>
              <a:rPr lang="en-US" sz="2200" b="1" dirty="0">
                <a:solidFill>
                  <a:srgbClr val="00B0F0"/>
                </a:solidFill>
              </a:rPr>
              <a:t>Ethical Considerations</a:t>
            </a:r>
          </a:p>
          <a:p>
            <a:pPr>
              <a:spcAft>
                <a:spcPts val="600"/>
              </a:spcAft>
            </a:pPr>
            <a:r>
              <a:rPr lang="en-US" sz="1700" dirty="0">
                <a:solidFill>
                  <a:srgbClr val="00B0F0"/>
                </a:solidFill>
              </a:rPr>
              <a:t>•</a:t>
            </a:r>
            <a:r>
              <a:rPr lang="en-US" sz="1700" dirty="0"/>
              <a:t> Asset-Only Focus: Real-time </a:t>
            </a:r>
            <a:br>
              <a:rPr lang="en-US" sz="1700" dirty="0"/>
            </a:br>
            <a:r>
              <a:rPr lang="en-US" sz="1700" dirty="0"/>
              <a:t>   tracking is strictly limited to </a:t>
            </a:r>
            <a:br>
              <a:rPr lang="en-US" sz="1700" dirty="0"/>
            </a:br>
            <a:r>
              <a:rPr lang="en-US" sz="1700" dirty="0"/>
              <a:t>   medical equipment, assuring </a:t>
            </a:r>
            <a:br>
              <a:rPr lang="en-US" sz="1700" dirty="0"/>
            </a:br>
            <a:r>
              <a:rPr lang="en-US" sz="1700" dirty="0"/>
              <a:t>   staff the system is built </a:t>
            </a:r>
            <a:br>
              <a:rPr lang="en-US" sz="1700" dirty="0"/>
            </a:br>
            <a:r>
              <a:rPr lang="en-US" sz="1700" dirty="0"/>
              <a:t>   purely for availability.</a:t>
            </a:r>
          </a:p>
          <a:p>
            <a:pPr>
              <a:spcAft>
                <a:spcPts val="600"/>
              </a:spcAft>
            </a:pPr>
            <a:r>
              <a:rPr lang="en-US" sz="1700" dirty="0">
                <a:solidFill>
                  <a:srgbClr val="00B0F0"/>
                </a:solidFill>
              </a:rPr>
              <a:t>•</a:t>
            </a:r>
            <a:r>
              <a:rPr lang="en-US" sz="1700" dirty="0"/>
              <a:t> Equitable Access: Location </a:t>
            </a:r>
            <a:br>
              <a:rPr lang="en-US" sz="1700" dirty="0"/>
            </a:br>
            <a:r>
              <a:rPr lang="en-US" sz="1700" dirty="0"/>
              <a:t>   data is shared equally across </a:t>
            </a:r>
            <a:br>
              <a:rPr lang="en-US" sz="1700" dirty="0"/>
            </a:br>
            <a:r>
              <a:rPr lang="en-US" sz="1700" dirty="0"/>
              <a:t>   all hospital units to eliminate </a:t>
            </a:r>
            <a:br>
              <a:rPr lang="en-US" sz="1700" dirty="0"/>
            </a:br>
            <a:r>
              <a:rPr lang="en-US" sz="1700" dirty="0"/>
              <a:t>   equipment hoarding and </a:t>
            </a:r>
            <a:br>
              <a:rPr lang="en-US" sz="1700" dirty="0"/>
            </a:br>
            <a:r>
              <a:rPr lang="en-US" sz="1700" dirty="0"/>
              <a:t>   ensure balanced patient </a:t>
            </a:r>
            <a:br>
              <a:rPr lang="en-US" sz="1700" dirty="0"/>
            </a:br>
            <a:r>
              <a:rPr lang="en-US" sz="1700" dirty="0"/>
              <a:t>   care.</a:t>
            </a:r>
          </a:p>
          <a:p>
            <a:pPr>
              <a:spcAft>
                <a:spcPts val="1200"/>
              </a:spcAft>
            </a:pPr>
            <a:r>
              <a:rPr lang="en-US" sz="1700" dirty="0">
                <a:solidFill>
                  <a:srgbClr val="00B0F0"/>
                </a:solidFill>
              </a:rPr>
              <a:t>•</a:t>
            </a:r>
            <a:r>
              <a:rPr lang="en-US" sz="1700" dirty="0"/>
              <a:t> Data Integrity: RBAC </a:t>
            </a:r>
            <a:br>
              <a:rPr lang="en-US" sz="1700" dirty="0"/>
            </a:br>
            <a:r>
              <a:rPr lang="en-US" sz="1700" dirty="0"/>
              <a:t>   enforces strict authorization </a:t>
            </a:r>
            <a:br>
              <a:rPr lang="en-US" sz="1700" dirty="0"/>
            </a:br>
            <a:r>
              <a:rPr lang="en-US" sz="1700" dirty="0"/>
              <a:t>   so only designated leads </a:t>
            </a:r>
            <a:br>
              <a:rPr lang="en-US" sz="1700" dirty="0"/>
            </a:br>
            <a:r>
              <a:rPr lang="en-US" sz="1700" dirty="0"/>
              <a:t>   modify system settings or tag </a:t>
            </a:r>
            <a:br>
              <a:rPr lang="en-US" sz="1700" dirty="0"/>
            </a:br>
            <a:r>
              <a:rPr lang="en-US" sz="1700" dirty="0"/>
              <a:t>   registries.</a:t>
            </a:r>
          </a:p>
        </p:txBody>
      </p:sp>
      <p:sp>
        <p:nvSpPr>
          <p:cNvPr id="8" name="TextBox 7">
            <a:extLst>
              <a:ext uri="{FF2B5EF4-FFF2-40B4-BE49-F238E27FC236}">
                <a16:creationId xmlns:a16="http://schemas.microsoft.com/office/drawing/2014/main" id="{9CB8F132-5241-1C55-8A6C-96454AEC99F5}"/>
              </a:ext>
            </a:extLst>
          </p:cNvPr>
          <p:cNvSpPr txBox="1"/>
          <p:nvPr/>
        </p:nvSpPr>
        <p:spPr>
          <a:xfrm>
            <a:off x="8315328" y="1329644"/>
            <a:ext cx="3209922" cy="3277820"/>
          </a:xfrm>
          <a:prstGeom prst="rect">
            <a:avLst/>
          </a:prstGeom>
          <a:noFill/>
        </p:spPr>
        <p:txBody>
          <a:bodyPr wrap="square" rtlCol="0">
            <a:spAutoFit/>
          </a:bodyPr>
          <a:lstStyle/>
          <a:p>
            <a:pPr>
              <a:spcAft>
                <a:spcPts val="1200"/>
              </a:spcAft>
            </a:pPr>
            <a:r>
              <a:rPr lang="en-US" sz="2200" b="1" dirty="0">
                <a:solidFill>
                  <a:srgbClr val="00B0F0"/>
                </a:solidFill>
              </a:rPr>
              <a:t>Cultural Considerations</a:t>
            </a:r>
          </a:p>
          <a:p>
            <a:pPr>
              <a:spcAft>
                <a:spcPts val="600"/>
              </a:spcAft>
            </a:pPr>
            <a:r>
              <a:rPr lang="en-US" sz="1700" dirty="0">
                <a:solidFill>
                  <a:srgbClr val="00B0F0"/>
                </a:solidFill>
              </a:rPr>
              <a:t>•</a:t>
            </a:r>
            <a:r>
              <a:rPr lang="en-US" sz="1700" dirty="0"/>
              <a:t> Staff Empowerment: Positioned </a:t>
            </a:r>
            <a:br>
              <a:rPr lang="en-US" sz="1700" dirty="0"/>
            </a:br>
            <a:r>
              <a:rPr lang="en-US" sz="1700" dirty="0"/>
              <a:t>   as a supportive productivity tool</a:t>
            </a:r>
            <a:br>
              <a:rPr lang="en-US" sz="1700" dirty="0"/>
            </a:br>
            <a:r>
              <a:rPr lang="en-US" sz="1700" dirty="0"/>
              <a:t>   to eliminate nurse search </a:t>
            </a:r>
            <a:br>
              <a:rPr lang="en-US" sz="1700" dirty="0"/>
            </a:br>
            <a:r>
              <a:rPr lang="en-US" sz="1700" dirty="0"/>
              <a:t>   frustration rather than a staff </a:t>
            </a:r>
            <a:br>
              <a:rPr lang="en-US" sz="1700" dirty="0"/>
            </a:br>
            <a:r>
              <a:rPr lang="en-US" sz="1700" dirty="0"/>
              <a:t>   monitoring mechanism.</a:t>
            </a:r>
          </a:p>
          <a:p>
            <a:pPr>
              <a:spcAft>
                <a:spcPts val="600"/>
              </a:spcAft>
            </a:pPr>
            <a:r>
              <a:rPr lang="en-US" sz="1700" dirty="0">
                <a:solidFill>
                  <a:srgbClr val="00B0F0"/>
                </a:solidFill>
              </a:rPr>
              <a:t>•</a:t>
            </a:r>
            <a:r>
              <a:rPr lang="en-US" sz="1700" dirty="0"/>
              <a:t> Shared Ownership: Fosters a </a:t>
            </a:r>
            <a:br>
              <a:rPr lang="en-US" sz="1700" dirty="0"/>
            </a:br>
            <a:r>
              <a:rPr lang="en-US" sz="1700" dirty="0"/>
              <a:t>   culture of collaborative asset </a:t>
            </a:r>
            <a:br>
              <a:rPr lang="en-US" sz="1700" dirty="0"/>
            </a:br>
            <a:r>
              <a:rPr lang="en-US" sz="1700" dirty="0"/>
              <a:t>   stewardship across shift </a:t>
            </a:r>
            <a:br>
              <a:rPr lang="en-US" sz="1700" dirty="0"/>
            </a:br>
            <a:r>
              <a:rPr lang="en-US" sz="1700" dirty="0"/>
              <a:t>   handoffs, nursing teams, and </a:t>
            </a:r>
            <a:br>
              <a:rPr lang="en-US" sz="1700" dirty="0"/>
            </a:br>
            <a:r>
              <a:rPr lang="en-US" sz="1700" dirty="0"/>
              <a:t>   clinical departments.</a:t>
            </a:r>
          </a:p>
        </p:txBody>
      </p:sp>
      <p:pic>
        <p:nvPicPr>
          <p:cNvPr id="2" name="Slide 23">
            <a:hlinkClick r:id="" action="ppaction://media"/>
            <a:extLst>
              <a:ext uri="{FF2B5EF4-FFF2-40B4-BE49-F238E27FC236}">
                <a16:creationId xmlns:a16="http://schemas.microsoft.com/office/drawing/2014/main" id="{9BC57FE4-9DF1-FD6B-B112-6034EBE76BE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2920761511"/>
      </p:ext>
    </p:extLst>
  </p:cSld>
  <p:clrMapOvr>
    <a:masterClrMapping/>
  </p:clrMapOvr>
  <mc:AlternateContent xmlns:mc="http://schemas.openxmlformats.org/markup-compatibility/2006" xmlns:p14="http://schemas.microsoft.com/office/powerpoint/2010/main">
    <mc:Choice Requires="p14">
      <p:transition spd="med" p14:dur="700" advTm="60167">
        <p:fade/>
      </p:transition>
    </mc:Choice>
    <mc:Fallback xmlns="">
      <p:transition spd="med" advTm="6016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1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0317B-6154-CF0D-B64E-4C642B0E33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DFA611-6BF0-794C-2448-47E5D4EBDA76}"/>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Incorporation of Feedback</a:t>
            </a:r>
          </a:p>
        </p:txBody>
      </p:sp>
      <p:sp>
        <p:nvSpPr>
          <p:cNvPr id="5" name="Rectangle 4">
            <a:extLst>
              <a:ext uri="{FF2B5EF4-FFF2-40B4-BE49-F238E27FC236}">
                <a16:creationId xmlns:a16="http://schemas.microsoft.com/office/drawing/2014/main" id="{26EBE2FD-46BD-2DCE-88D0-B1310479E65E}"/>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4D8542AB-FBE6-8C57-AB80-D58DB2B8E8E5}"/>
              </a:ext>
            </a:extLst>
          </p:cNvPr>
          <p:cNvSpPr txBox="1"/>
          <p:nvPr/>
        </p:nvSpPr>
        <p:spPr>
          <a:xfrm>
            <a:off x="990601" y="1329644"/>
            <a:ext cx="4169228" cy="3831818"/>
          </a:xfrm>
          <a:prstGeom prst="rect">
            <a:avLst/>
          </a:prstGeom>
          <a:noFill/>
        </p:spPr>
        <p:txBody>
          <a:bodyPr wrap="square" rtlCol="0">
            <a:spAutoFit/>
          </a:bodyPr>
          <a:lstStyle/>
          <a:p>
            <a:r>
              <a:rPr lang="en-US" sz="1700" b="1" dirty="0">
                <a:solidFill>
                  <a:srgbClr val="00B0F0"/>
                </a:solidFill>
              </a:rPr>
              <a:t>Peer Feedback: Anderson St James</a:t>
            </a:r>
            <a:br>
              <a:rPr lang="en-US" sz="1700" b="1" dirty="0">
                <a:solidFill>
                  <a:srgbClr val="00B0F0"/>
                </a:solidFill>
              </a:rPr>
            </a:br>
            <a:r>
              <a:rPr lang="en-US" sz="1700" dirty="0"/>
              <a:t>"One area I would consider improving is narrowing the final problem statement. It currently combines equipment tracking and patient vital monitoring into one problem..."</a:t>
            </a:r>
          </a:p>
          <a:p>
            <a:endParaRPr lang="en-US" sz="1700" dirty="0"/>
          </a:p>
          <a:p>
            <a:pPr>
              <a:spcAft>
                <a:spcPts val="600"/>
              </a:spcAft>
            </a:pPr>
            <a:r>
              <a:rPr lang="en-US" sz="1700" b="1" dirty="0">
                <a:solidFill>
                  <a:srgbClr val="00B0F0"/>
                </a:solidFill>
              </a:rPr>
              <a:t>Implementation</a:t>
            </a:r>
            <a:br>
              <a:rPr lang="en-US" sz="1700" b="1" dirty="0">
                <a:solidFill>
                  <a:srgbClr val="00B0F0"/>
                </a:solidFill>
              </a:rPr>
            </a:br>
            <a:r>
              <a:rPr lang="en-US" sz="1700" b="1" dirty="0">
                <a:solidFill>
                  <a:srgbClr val="00B0F0"/>
                </a:solidFill>
              </a:rPr>
              <a:t>• </a:t>
            </a:r>
            <a:r>
              <a:rPr lang="en-US" sz="1700" dirty="0"/>
              <a:t>Scope Isolation: Excluded vital monitoring </a:t>
            </a:r>
            <a:br>
              <a:rPr lang="en-US" sz="1700" dirty="0"/>
            </a:br>
            <a:r>
              <a:rPr lang="en-US" sz="1700" dirty="0"/>
              <a:t>   to eliminate scope creep and </a:t>
            </a:r>
            <a:br>
              <a:rPr lang="en-US" sz="1700" dirty="0"/>
            </a:br>
            <a:r>
              <a:rPr lang="en-US" sz="1700" dirty="0"/>
              <a:t>   implementation hurdles.</a:t>
            </a:r>
          </a:p>
          <a:p>
            <a:pPr>
              <a:spcAft>
                <a:spcPts val="600"/>
              </a:spcAft>
            </a:pPr>
            <a:r>
              <a:rPr lang="en-US" sz="1700" b="1" dirty="0">
                <a:solidFill>
                  <a:srgbClr val="00B0F0"/>
                </a:solidFill>
              </a:rPr>
              <a:t>• </a:t>
            </a:r>
            <a:r>
              <a:rPr lang="en-US" sz="1700" dirty="0"/>
              <a:t>Targeted Focus: Directs 100% of system </a:t>
            </a:r>
            <a:br>
              <a:rPr lang="en-US" sz="1700" dirty="0"/>
            </a:br>
            <a:r>
              <a:rPr lang="en-US" sz="1700" dirty="0"/>
              <a:t>   design toward solving equipment search </a:t>
            </a:r>
            <a:br>
              <a:rPr lang="en-US" sz="1700" dirty="0"/>
            </a:br>
            <a:r>
              <a:rPr lang="en-US" sz="1700" dirty="0"/>
              <a:t>   times to improve critical operational </a:t>
            </a:r>
            <a:br>
              <a:rPr lang="en-US" sz="1700" dirty="0"/>
            </a:br>
            <a:r>
              <a:rPr lang="en-US" sz="1700" dirty="0"/>
              <a:t>   bottlenecks.</a:t>
            </a:r>
          </a:p>
        </p:txBody>
      </p:sp>
      <p:sp>
        <p:nvSpPr>
          <p:cNvPr id="6" name="TextBox 5">
            <a:extLst>
              <a:ext uri="{FF2B5EF4-FFF2-40B4-BE49-F238E27FC236}">
                <a16:creationId xmlns:a16="http://schemas.microsoft.com/office/drawing/2014/main" id="{16A93E3B-03A3-69E0-E5E1-510901D37089}"/>
              </a:ext>
            </a:extLst>
          </p:cNvPr>
          <p:cNvSpPr txBox="1"/>
          <p:nvPr/>
        </p:nvSpPr>
        <p:spPr>
          <a:xfrm>
            <a:off x="5523722" y="1329644"/>
            <a:ext cx="5677677" cy="4693593"/>
          </a:xfrm>
          <a:prstGeom prst="rect">
            <a:avLst/>
          </a:prstGeom>
          <a:noFill/>
        </p:spPr>
        <p:txBody>
          <a:bodyPr wrap="square" rtlCol="0">
            <a:spAutoFit/>
          </a:bodyPr>
          <a:lstStyle/>
          <a:p>
            <a:pPr>
              <a:spcAft>
                <a:spcPts val="1200"/>
              </a:spcAft>
            </a:pPr>
            <a:r>
              <a:rPr lang="en-US" sz="1700" b="1" dirty="0">
                <a:solidFill>
                  <a:srgbClr val="00B0F0"/>
                </a:solidFill>
              </a:rPr>
              <a:t>Peer Feedback: Christopher Hellmuth</a:t>
            </a:r>
            <a:br>
              <a:rPr lang="en-US" sz="1700" b="1" dirty="0">
                <a:solidFill>
                  <a:srgbClr val="00B0F0"/>
                </a:solidFill>
              </a:rPr>
            </a:br>
            <a:r>
              <a:rPr lang="en-US" sz="1700" dirty="0"/>
              <a:t>"Who will be taking care of the UWB tags once they are installed... break it down by what each team would be responsible for.“</a:t>
            </a:r>
            <a:br>
              <a:rPr lang="en-US" sz="1700" dirty="0"/>
            </a:br>
            <a:br>
              <a:rPr lang="en-US" sz="1700" dirty="0"/>
            </a:br>
            <a:r>
              <a:rPr lang="en-US" sz="1700" b="1" dirty="0">
                <a:solidFill>
                  <a:srgbClr val="00B0F0"/>
                </a:solidFill>
              </a:rPr>
              <a:t>Implementation</a:t>
            </a:r>
            <a:br>
              <a:rPr lang="en-US" sz="1700" b="1" dirty="0">
                <a:solidFill>
                  <a:srgbClr val="00B0F0"/>
                </a:solidFill>
              </a:rPr>
            </a:br>
            <a:r>
              <a:rPr lang="en-US" sz="1700" dirty="0"/>
              <a:t>Added Maintenance Phase: Incorporated long-term support directly into the Work Breakdown Structure (WBS) and Project Schedule.</a:t>
            </a:r>
          </a:p>
          <a:p>
            <a:pPr>
              <a:spcAft>
                <a:spcPts val="1200"/>
              </a:spcAft>
            </a:pPr>
            <a:r>
              <a:rPr lang="en-US" sz="1700" dirty="0"/>
              <a:t>Role Assignments:</a:t>
            </a:r>
            <a:br>
              <a:rPr lang="en-US" sz="1700" dirty="0"/>
            </a:br>
            <a:r>
              <a:rPr lang="en-US" sz="1700" dirty="0"/>
              <a:t>   </a:t>
            </a:r>
            <a:r>
              <a:rPr lang="en-US" sz="1700" b="1" dirty="0">
                <a:solidFill>
                  <a:srgbClr val="00B0F0"/>
                </a:solidFill>
              </a:rPr>
              <a:t>• </a:t>
            </a:r>
            <a:r>
              <a:rPr lang="en-US" sz="1700" dirty="0"/>
              <a:t>Biomedical Technicians: Tag lifecycle, 3–5-year battery </a:t>
            </a:r>
            <a:br>
              <a:rPr lang="en-US" sz="1700" dirty="0"/>
            </a:br>
            <a:r>
              <a:rPr lang="en-US" sz="1700" dirty="0"/>
              <a:t>      swaps, and physical hardware.</a:t>
            </a:r>
            <a:br>
              <a:rPr lang="en-US" sz="1700" dirty="0"/>
            </a:br>
            <a:r>
              <a:rPr lang="en-US" sz="1700" b="1" dirty="0">
                <a:solidFill>
                  <a:srgbClr val="00B0F0"/>
                </a:solidFill>
              </a:rPr>
              <a:t>   • </a:t>
            </a:r>
            <a:r>
              <a:rPr lang="en-US" sz="1700" dirty="0"/>
              <a:t>IT Operations &amp; DevOps: Wi-Fi VLAN security audits, </a:t>
            </a:r>
            <a:br>
              <a:rPr lang="en-US" sz="1700" dirty="0"/>
            </a:br>
            <a:r>
              <a:rPr lang="en-US" sz="1700" dirty="0"/>
              <a:t>      gateway firmware updates, dashboard uptime, and </a:t>
            </a:r>
            <a:br>
              <a:rPr lang="en-US" sz="1700" dirty="0"/>
            </a:br>
            <a:r>
              <a:rPr lang="en-US" sz="1700" dirty="0"/>
              <a:t>      threshold management. </a:t>
            </a:r>
            <a:br>
              <a:rPr lang="en-US" sz="1700" dirty="0"/>
            </a:br>
            <a:r>
              <a:rPr lang="en-US" sz="1700" b="1" dirty="0">
                <a:solidFill>
                  <a:srgbClr val="00B0F0"/>
                </a:solidFill>
              </a:rPr>
              <a:t>   • </a:t>
            </a:r>
            <a:r>
              <a:rPr lang="en-US" sz="1700" dirty="0"/>
              <a:t>Vendor Support: Partnered with IT Operations for annual </a:t>
            </a:r>
            <a:br>
              <a:rPr lang="en-US" sz="1700" dirty="0"/>
            </a:br>
            <a:r>
              <a:rPr lang="en-US" sz="1700" dirty="0"/>
              <a:t>       precision recalibration of ceiling gateways.</a:t>
            </a:r>
          </a:p>
        </p:txBody>
      </p:sp>
      <p:pic>
        <p:nvPicPr>
          <p:cNvPr id="7" name="Slide 24">
            <a:hlinkClick r:id="" action="ppaction://media"/>
            <a:extLst>
              <a:ext uri="{FF2B5EF4-FFF2-40B4-BE49-F238E27FC236}">
                <a16:creationId xmlns:a16="http://schemas.microsoft.com/office/drawing/2014/main" id="{051CFC5C-62D4-0721-1ADF-986747F133BF}"/>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82717" y="137160"/>
            <a:ext cx="487363" cy="487363"/>
          </a:xfrm>
          <a:prstGeom prst="rect">
            <a:avLst/>
          </a:prstGeom>
        </p:spPr>
      </p:pic>
    </p:spTree>
    <p:extLst>
      <p:ext uri="{BB962C8B-B14F-4D97-AF65-F5344CB8AC3E}">
        <p14:creationId xmlns:p14="http://schemas.microsoft.com/office/powerpoint/2010/main" val="3078413628"/>
      </p:ext>
    </p:extLst>
  </p:cSld>
  <p:clrMapOvr>
    <a:masterClrMapping/>
  </p:clrMapOvr>
  <mc:AlternateContent xmlns:mc="http://schemas.openxmlformats.org/markup-compatibility/2006" xmlns:p14="http://schemas.microsoft.com/office/powerpoint/2010/main">
    <mc:Choice Requires="p14">
      <p:transition spd="med" p14:dur="700" advTm="67587">
        <p:fade/>
      </p:transition>
    </mc:Choice>
    <mc:Fallback xmlns="">
      <p:transition spd="med" advTm="67587">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1049"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032CA-7039-C731-594A-C8348EEA31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89560C-3CF4-AE3D-41C8-5C9271C8CD64}"/>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Career Readiness</a:t>
            </a:r>
          </a:p>
        </p:txBody>
      </p:sp>
      <p:sp>
        <p:nvSpPr>
          <p:cNvPr id="5" name="Rectangle 4">
            <a:extLst>
              <a:ext uri="{FF2B5EF4-FFF2-40B4-BE49-F238E27FC236}">
                <a16:creationId xmlns:a16="http://schemas.microsoft.com/office/drawing/2014/main" id="{2029ED31-8878-0558-9F06-AA894A390D4E}"/>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33665368-37E0-EDCE-9AA5-87E20821DA5D}"/>
              </a:ext>
            </a:extLst>
          </p:cNvPr>
          <p:cNvSpPr txBox="1"/>
          <p:nvPr/>
        </p:nvSpPr>
        <p:spPr>
          <a:xfrm>
            <a:off x="990601" y="1144582"/>
            <a:ext cx="10297160" cy="5262979"/>
          </a:xfrm>
          <a:prstGeom prst="rect">
            <a:avLst/>
          </a:prstGeom>
          <a:noFill/>
        </p:spPr>
        <p:txBody>
          <a:bodyPr wrap="square" rtlCol="0">
            <a:spAutoFit/>
          </a:bodyPr>
          <a:lstStyle/>
          <a:p>
            <a:pPr>
              <a:spcAft>
                <a:spcPts val="1200"/>
              </a:spcAft>
            </a:pPr>
            <a:r>
              <a:rPr lang="en-US" sz="1700" b="1" dirty="0">
                <a:solidFill>
                  <a:srgbClr val="00B0F0"/>
                </a:solidFill>
              </a:rPr>
              <a:t>Systems &amp; Data Architecture</a:t>
            </a:r>
            <a:br>
              <a:rPr lang="en-US" sz="1700" b="1" dirty="0">
                <a:solidFill>
                  <a:srgbClr val="00B0F0"/>
                </a:solidFill>
              </a:rPr>
            </a:br>
            <a:r>
              <a:rPr lang="en-US" sz="1700" b="1" dirty="0">
                <a:solidFill>
                  <a:srgbClr val="00B0F0"/>
                </a:solidFill>
              </a:rPr>
              <a:t>• </a:t>
            </a:r>
            <a:r>
              <a:rPr lang="en-US" sz="1700" dirty="0"/>
              <a:t>IoT Hardware: Engineered a UWB sensor and ceiling gateway tracking pipeline.</a:t>
            </a:r>
            <a:br>
              <a:rPr lang="en-US" sz="1700" dirty="0"/>
            </a:br>
            <a:r>
              <a:rPr lang="en-US" sz="1700" b="1" dirty="0">
                <a:solidFill>
                  <a:srgbClr val="00B0F0"/>
                </a:solidFill>
              </a:rPr>
              <a:t>• </a:t>
            </a:r>
            <a:r>
              <a:rPr lang="en-US" sz="1700" dirty="0"/>
              <a:t>Hybrid Database Design: Structured on-premises Relational/Non-Relational schema for real-time positioning</a:t>
            </a:r>
            <a:br>
              <a:rPr lang="en-US" sz="1700" dirty="0"/>
            </a:br>
            <a:r>
              <a:rPr lang="en-US" sz="1700" dirty="0"/>
              <a:t>   logs and asset staff assignment paring.</a:t>
            </a:r>
          </a:p>
          <a:p>
            <a:pPr>
              <a:spcAft>
                <a:spcPts val="1200"/>
              </a:spcAft>
            </a:pPr>
            <a:r>
              <a:rPr lang="en-US" sz="1700" b="1" dirty="0">
                <a:solidFill>
                  <a:srgbClr val="00B0F0"/>
                </a:solidFill>
              </a:rPr>
              <a:t>Enterprise Network &amp; Security</a:t>
            </a:r>
            <a:br>
              <a:rPr lang="en-US" sz="1700" b="1" dirty="0">
                <a:solidFill>
                  <a:srgbClr val="00B0F0"/>
                </a:solidFill>
              </a:rPr>
            </a:br>
            <a:r>
              <a:rPr lang="en-US" sz="1700" b="1" dirty="0">
                <a:solidFill>
                  <a:srgbClr val="00B0F0"/>
                </a:solidFill>
              </a:rPr>
              <a:t>• </a:t>
            </a:r>
            <a:r>
              <a:rPr lang="en-US" sz="1700" dirty="0"/>
              <a:t>Network Isolation: Designed encrypted, segmented Wi-Fi VLANs to isolate tracking traffic.</a:t>
            </a:r>
            <a:br>
              <a:rPr lang="en-US" sz="1700" dirty="0"/>
            </a:br>
            <a:r>
              <a:rPr lang="en-US" sz="1700" b="1" dirty="0">
                <a:solidFill>
                  <a:srgbClr val="00B0F0"/>
                </a:solidFill>
              </a:rPr>
              <a:t>•</a:t>
            </a:r>
            <a:r>
              <a:rPr lang="en-US" sz="1700" dirty="0"/>
              <a:t> Compliance &amp; Governance: Embedded HIPAA standards, RBAC controls, and security auditing into</a:t>
            </a:r>
            <a:br>
              <a:rPr lang="en-US" sz="1700" dirty="0"/>
            </a:br>
            <a:r>
              <a:rPr lang="en-US" sz="1700" dirty="0"/>
              <a:t>   core system design.</a:t>
            </a:r>
          </a:p>
          <a:p>
            <a:pPr>
              <a:spcAft>
                <a:spcPts val="1200"/>
              </a:spcAft>
            </a:pPr>
            <a:r>
              <a:rPr lang="en-US" sz="1700" b="1" dirty="0">
                <a:solidFill>
                  <a:srgbClr val="00B0F0"/>
                </a:solidFill>
              </a:rPr>
              <a:t>Systems Engineering &amp; Analytics</a:t>
            </a:r>
            <a:br>
              <a:rPr lang="en-US" sz="1700" b="1" dirty="0">
                <a:solidFill>
                  <a:srgbClr val="00B0F0"/>
                </a:solidFill>
              </a:rPr>
            </a:br>
            <a:r>
              <a:rPr lang="en-US" sz="1700" b="1" dirty="0">
                <a:solidFill>
                  <a:srgbClr val="00B0F0"/>
                </a:solidFill>
              </a:rPr>
              <a:t>• </a:t>
            </a:r>
            <a:r>
              <a:rPr lang="en-US" sz="1700" dirty="0"/>
              <a:t>Project Management: Built a 23-week Project Schedule and Work Breakdown Structure (WBS) for</a:t>
            </a:r>
            <a:br>
              <a:rPr lang="en-US" sz="1700" dirty="0"/>
            </a:br>
            <a:r>
              <a:rPr lang="en-US" sz="1700" dirty="0"/>
              <a:t>   cross-functional deployment.</a:t>
            </a:r>
            <a:br>
              <a:rPr lang="en-US" sz="1700" dirty="0"/>
            </a:br>
            <a:r>
              <a:rPr lang="en-US" sz="1700" b="1" dirty="0">
                <a:solidFill>
                  <a:srgbClr val="00B0F0"/>
                </a:solidFill>
              </a:rPr>
              <a:t>• </a:t>
            </a:r>
            <a:r>
              <a:rPr lang="en-US" sz="1700" dirty="0"/>
              <a:t>Business ROI Modeling: Applied quantitative decision frameworks to project ROI, track productivity recovery,</a:t>
            </a:r>
            <a:br>
              <a:rPr lang="en-US" sz="1700" dirty="0"/>
            </a:br>
            <a:r>
              <a:rPr lang="en-US" sz="1700" dirty="0"/>
              <a:t>   and model capital costs.</a:t>
            </a:r>
          </a:p>
          <a:p>
            <a:pPr>
              <a:spcAft>
                <a:spcPts val="1200"/>
              </a:spcAft>
            </a:pPr>
            <a:r>
              <a:rPr lang="en-US" sz="1700" b="1" dirty="0">
                <a:solidFill>
                  <a:srgbClr val="00B0F0"/>
                </a:solidFill>
              </a:rPr>
              <a:t>Strategic Planning &amp; Career Application</a:t>
            </a:r>
            <a:br>
              <a:rPr lang="en-US" sz="1700" b="1" dirty="0">
                <a:solidFill>
                  <a:srgbClr val="00B0F0"/>
                </a:solidFill>
              </a:rPr>
            </a:br>
            <a:r>
              <a:rPr lang="en-US" sz="1700" b="1" dirty="0">
                <a:solidFill>
                  <a:srgbClr val="00B0F0"/>
                </a:solidFill>
              </a:rPr>
              <a:t>• </a:t>
            </a:r>
            <a:r>
              <a:rPr lang="en-US" sz="1700" dirty="0"/>
              <a:t>Holistic System Design: Evaluated legal, ethical, and workplace cultural factors to protect privacy</a:t>
            </a:r>
            <a:br>
              <a:rPr lang="en-US" sz="1700" dirty="0"/>
            </a:br>
            <a:r>
              <a:rPr lang="en-US" sz="1700" dirty="0"/>
              <a:t>   and support equity.</a:t>
            </a:r>
            <a:br>
              <a:rPr lang="en-US" sz="1700" dirty="0"/>
            </a:br>
            <a:r>
              <a:rPr lang="en-US" sz="1700" b="1" dirty="0">
                <a:solidFill>
                  <a:srgbClr val="00B0F0"/>
                </a:solidFill>
              </a:rPr>
              <a:t>• </a:t>
            </a:r>
            <a:r>
              <a:rPr lang="en-US" sz="1700" dirty="0"/>
              <a:t>Target Roles: Serves as a production-grade project demonstrating full lifecycle systems engineering</a:t>
            </a:r>
            <a:br>
              <a:rPr lang="en-US" sz="1700" dirty="0"/>
            </a:br>
            <a:r>
              <a:rPr lang="en-US" sz="1700" dirty="0"/>
              <a:t>   for Software Engineering and Systems Architecture roles.</a:t>
            </a:r>
          </a:p>
        </p:txBody>
      </p:sp>
      <p:pic>
        <p:nvPicPr>
          <p:cNvPr id="6" name="Slide 25">
            <a:hlinkClick r:id="" action="ppaction://media"/>
            <a:extLst>
              <a:ext uri="{FF2B5EF4-FFF2-40B4-BE49-F238E27FC236}">
                <a16:creationId xmlns:a16="http://schemas.microsoft.com/office/drawing/2014/main" id="{CFB77689-D501-D7FC-321E-56D285D7946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1628463197"/>
      </p:ext>
    </p:extLst>
  </p:cSld>
  <p:clrMapOvr>
    <a:masterClrMapping/>
  </p:clrMapOvr>
  <mc:AlternateContent xmlns:mc="http://schemas.openxmlformats.org/markup-compatibility/2006" xmlns:p14="http://schemas.microsoft.com/office/powerpoint/2010/main">
    <mc:Choice Requires="p14">
      <p:transition spd="med" p14:dur="700" advTm="89483">
        <p:fade/>
      </p:transition>
    </mc:Choice>
    <mc:Fallback xmlns="">
      <p:transition spd="med" advTm="8948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914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CFDB6-AD31-B08A-7C3C-E20FE1ACF8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69DF11-F113-0769-56E2-9009DDCBA88C}"/>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Conclusion</a:t>
            </a:r>
          </a:p>
        </p:txBody>
      </p:sp>
      <p:sp>
        <p:nvSpPr>
          <p:cNvPr id="5" name="Rectangle 4">
            <a:extLst>
              <a:ext uri="{FF2B5EF4-FFF2-40B4-BE49-F238E27FC236}">
                <a16:creationId xmlns:a16="http://schemas.microsoft.com/office/drawing/2014/main" id="{32CAA0D9-24E9-4E55-B6E5-9F8F70059869}"/>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sp>
        <p:nvSpPr>
          <p:cNvPr id="4" name="TextBox 3">
            <a:extLst>
              <a:ext uri="{FF2B5EF4-FFF2-40B4-BE49-F238E27FC236}">
                <a16:creationId xmlns:a16="http://schemas.microsoft.com/office/drawing/2014/main" id="{E54E9D39-43BE-E2D1-9C0B-79710E55CA5E}"/>
              </a:ext>
            </a:extLst>
          </p:cNvPr>
          <p:cNvSpPr txBox="1"/>
          <p:nvPr/>
        </p:nvSpPr>
        <p:spPr>
          <a:xfrm>
            <a:off x="990601" y="1329644"/>
            <a:ext cx="10220960" cy="5155257"/>
          </a:xfrm>
          <a:prstGeom prst="rect">
            <a:avLst/>
          </a:prstGeom>
          <a:noFill/>
        </p:spPr>
        <p:txBody>
          <a:bodyPr wrap="square" rtlCol="0">
            <a:spAutoFit/>
          </a:bodyPr>
          <a:lstStyle/>
          <a:p>
            <a:r>
              <a:rPr lang="en-US" sz="1700" b="1" dirty="0">
                <a:solidFill>
                  <a:srgbClr val="00B0F0"/>
                </a:solidFill>
              </a:rPr>
              <a:t>Operational Efficiency &amp; Patient Care</a:t>
            </a:r>
          </a:p>
          <a:p>
            <a:pPr>
              <a:spcAft>
                <a:spcPts val="1200"/>
              </a:spcAft>
            </a:pPr>
            <a:r>
              <a:rPr lang="en-US" sz="1700" dirty="0"/>
              <a:t>Eliminating up to 60 minutes of daily equipment search time per nurse per shift directly translates into higher quality direct bedside care and increased nursing productivity </a:t>
            </a:r>
            <a:r>
              <a:rPr lang="en-US" sz="1700" dirty="0">
                <a:solidFill>
                  <a:prstClr val="black">
                    <a:lumMod val="50000"/>
                    <a:lumOff val="50000"/>
                  </a:prstClr>
                </a:solidFill>
              </a:rPr>
              <a:t>(24x7, 2024)</a:t>
            </a:r>
            <a:r>
              <a:rPr lang="en-US" sz="1700" dirty="0"/>
              <a:t>.</a:t>
            </a:r>
          </a:p>
          <a:p>
            <a:r>
              <a:rPr lang="en-US" sz="1700" b="1" dirty="0">
                <a:solidFill>
                  <a:srgbClr val="00B0F0"/>
                </a:solidFill>
              </a:rPr>
              <a:t>Financial Optimization</a:t>
            </a:r>
          </a:p>
          <a:p>
            <a:pPr>
              <a:spcAft>
                <a:spcPts val="1200"/>
              </a:spcAft>
            </a:pPr>
            <a:r>
              <a:rPr lang="en-US" sz="1700" dirty="0"/>
              <a:t>Implementing continuous real-time asset visibility could increase equipment utilization from 35% to 70%, preventing redundant equipment purchases and eliminating asset loss via geofencing alerts.</a:t>
            </a:r>
          </a:p>
          <a:p>
            <a:r>
              <a:rPr lang="en-US" sz="1700" b="1" dirty="0">
                <a:solidFill>
                  <a:srgbClr val="00B0F0"/>
                </a:solidFill>
              </a:rPr>
              <a:t>Enterprise Security &amp; HIPAA Compliance</a:t>
            </a:r>
          </a:p>
          <a:p>
            <a:pPr>
              <a:spcAft>
                <a:spcPts val="1200"/>
              </a:spcAft>
            </a:pPr>
            <a:r>
              <a:rPr lang="en-US" sz="1700" dirty="0"/>
              <a:t>Deploying on an isolated, encrypted local Wi-Fi VLAN ensures robust security that minimizes interactions with sensitive Electronic Health Records (EHR) and Protected Health Information (PHI).</a:t>
            </a:r>
          </a:p>
          <a:p>
            <a:r>
              <a:rPr lang="en-US" sz="1700" b="1" dirty="0">
                <a:solidFill>
                  <a:srgbClr val="00B0F0"/>
                </a:solidFill>
              </a:rPr>
              <a:t>Sustainable Operations &amp; Clear Ownership</a:t>
            </a:r>
          </a:p>
          <a:p>
            <a:pPr>
              <a:spcAft>
                <a:spcPts val="1200"/>
              </a:spcAft>
            </a:pPr>
            <a:r>
              <a:rPr lang="en-US" sz="1700" dirty="0"/>
              <a:t>Establishing explicit post-deployment ownership across IT Operations, Biomedical Technicians, and Vendors guarantees hardware battery lifecycles, network stability, and long-term system calibration.</a:t>
            </a:r>
          </a:p>
          <a:p>
            <a:r>
              <a:rPr lang="en-US" sz="1700" b="1" dirty="0">
                <a:solidFill>
                  <a:srgbClr val="00B0F0"/>
                </a:solidFill>
              </a:rPr>
              <a:t>Implementation Readiness</a:t>
            </a:r>
          </a:p>
          <a:p>
            <a:r>
              <a:rPr lang="en-US" sz="1700" dirty="0"/>
              <a:t>The recommended UWB IoT ecosystem is fully structured across a 23-week WBS implementation plan, providing Cook Children’s with a scalable, highly effective asset-tracking model.</a:t>
            </a:r>
          </a:p>
          <a:p>
            <a:endParaRPr lang="en-US" sz="1700" dirty="0"/>
          </a:p>
          <a:p>
            <a:endParaRPr lang="en-US" sz="1700" dirty="0"/>
          </a:p>
        </p:txBody>
      </p:sp>
      <p:pic>
        <p:nvPicPr>
          <p:cNvPr id="2" name="Slide 26">
            <a:hlinkClick r:id="" action="ppaction://media"/>
            <a:extLst>
              <a:ext uri="{FF2B5EF4-FFF2-40B4-BE49-F238E27FC236}">
                <a16:creationId xmlns:a16="http://schemas.microsoft.com/office/drawing/2014/main" id="{79AA1CF6-2A30-9508-4066-0831F783537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7477" y="137160"/>
            <a:ext cx="487363" cy="487363"/>
          </a:xfrm>
          <a:prstGeom prst="rect">
            <a:avLst/>
          </a:prstGeom>
        </p:spPr>
      </p:pic>
    </p:spTree>
    <p:extLst>
      <p:ext uri="{BB962C8B-B14F-4D97-AF65-F5344CB8AC3E}">
        <p14:creationId xmlns:p14="http://schemas.microsoft.com/office/powerpoint/2010/main" val="139756573"/>
      </p:ext>
    </p:extLst>
  </p:cSld>
  <p:clrMapOvr>
    <a:masterClrMapping/>
  </p:clrMapOvr>
  <mc:AlternateContent xmlns:mc="http://schemas.openxmlformats.org/markup-compatibility/2006" xmlns:p14="http://schemas.microsoft.com/office/powerpoint/2010/main">
    <mc:Choice Requires="p14">
      <p:transition spd="med" p14:dur="700" advTm="85205">
        <p:fade/>
      </p:transition>
    </mc:Choice>
    <mc:Fallback xmlns="">
      <p:transition spd="med" advTm="8520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20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4DB8E-A76F-DD73-B1A7-B6E0805DC33D}"/>
            </a:ext>
          </a:extLst>
        </p:cNvPr>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AB8B6BF5-9512-77BA-4A82-C42DD019E286}"/>
              </a:ext>
            </a:extLst>
          </p:cNvPr>
          <p:cNvSpPr>
            <a:spLocks noGrp="1"/>
          </p:cNvSpPr>
          <p:nvPr>
            <p:ph sz="half" idx="2"/>
          </p:nvPr>
        </p:nvSpPr>
        <p:spPr>
          <a:xfrm>
            <a:off x="1219201" y="1275589"/>
            <a:ext cx="10144125" cy="5125592"/>
          </a:xfrm>
        </p:spPr>
        <p:txBody>
          <a:bodyPr vert="horz" lIns="121899" tIns="60949" rIns="121899" bIns="60949" rtlCol="0">
            <a:noAutofit/>
          </a:bodyPr>
          <a:lstStyle/>
          <a:p>
            <a:pPr marL="0" indent="0">
              <a:lnSpc>
                <a:spcPct val="100000"/>
              </a:lnSpc>
              <a:spcBef>
                <a:spcPts val="0"/>
              </a:spcBef>
              <a:buNone/>
            </a:pPr>
            <a:r>
              <a:rPr lang="en-US" sz="1600" dirty="0"/>
              <a:t>24x7. (2024, April 24). Nurses searching for equipment led to $14B in lost productivity.</a:t>
            </a:r>
          </a:p>
          <a:p>
            <a:pPr marL="304746" lvl="1" indent="0">
              <a:lnSpc>
                <a:spcPct val="100000"/>
              </a:lnSpc>
              <a:spcBef>
                <a:spcPts val="0"/>
              </a:spcBef>
              <a:spcAft>
                <a:spcPts val="600"/>
              </a:spcAft>
              <a:buNone/>
            </a:pPr>
            <a:r>
              <a:rPr lang="en-US" sz="1600" dirty="0">
                <a:solidFill>
                  <a:srgbClr val="00B0F0"/>
                </a:solidFill>
              </a:rPr>
              <a:t>https://24x7mag.com/management/equipment-management/nurses-searching-for-equipment-led-to-14b-in-lost-productivity</a:t>
            </a:r>
          </a:p>
          <a:p>
            <a:pPr marL="0" indent="0">
              <a:lnSpc>
                <a:spcPct val="100000"/>
              </a:lnSpc>
              <a:spcBef>
                <a:spcPts val="0"/>
              </a:spcBef>
              <a:buNone/>
            </a:pPr>
            <a:r>
              <a:rPr lang="en-US" sz="1600" dirty="0"/>
              <a:t>Altus. How RFID location tracking can help prevent equipment loss.</a:t>
            </a:r>
          </a:p>
          <a:p>
            <a:pPr marL="304746" lvl="1" indent="0">
              <a:lnSpc>
                <a:spcPct val="100000"/>
              </a:lnSpc>
              <a:spcBef>
                <a:spcPts val="0"/>
              </a:spcBef>
              <a:spcAft>
                <a:spcPts val="600"/>
              </a:spcAft>
              <a:buNone/>
            </a:pPr>
            <a:r>
              <a:rPr lang="en-US" sz="1600" dirty="0">
                <a:solidFill>
                  <a:srgbClr val="00B0F0"/>
                </a:solidFill>
                <a:hlinkClick r:id="rId4">
                  <a:extLst>
                    <a:ext uri="{A12FA001-AC4F-418D-AE19-62706E023703}">
                      <ahyp:hlinkClr xmlns:ahyp="http://schemas.microsoft.com/office/drawing/2018/hyperlinkcolor" val="tx"/>
                    </a:ext>
                  </a:extLst>
                </a:hlinkClick>
              </a:rPr>
              <a:t>https://www.altus-inc.com/insight/blog/how-rfid-location-tracking-can-help-prevent-equipment-loss</a:t>
            </a:r>
            <a:endParaRPr lang="en-US" sz="1600" dirty="0">
              <a:solidFill>
                <a:srgbClr val="00B0F0"/>
              </a:solidFill>
            </a:endParaRPr>
          </a:p>
          <a:p>
            <a:pPr marL="0" indent="0">
              <a:lnSpc>
                <a:spcPct val="100000"/>
              </a:lnSpc>
              <a:spcBef>
                <a:spcPts val="0"/>
              </a:spcBef>
              <a:buNone/>
            </a:pPr>
            <a:r>
              <a:rPr lang="en-US" sz="1600" dirty="0"/>
              <a:t>Collins, J. (2025, October 16). RFID asset tracking in healthcare: How to improve efficiency and</a:t>
            </a:r>
          </a:p>
          <a:p>
            <a:pPr marL="304746" lvl="1" indent="0">
              <a:lnSpc>
                <a:spcPct val="100000"/>
              </a:lnSpc>
              <a:spcBef>
                <a:spcPts val="0"/>
              </a:spcBef>
              <a:spcAft>
                <a:spcPts val="600"/>
              </a:spcAft>
              <a:buNone/>
            </a:pPr>
            <a:r>
              <a:rPr lang="en-US" sz="1600" dirty="0"/>
              <a:t>reduce costs. AiRISTA. </a:t>
            </a:r>
            <a:r>
              <a:rPr lang="en-US" sz="1600" dirty="0">
                <a:solidFill>
                  <a:srgbClr val="00B0F0"/>
                </a:solidFill>
                <a:hlinkClick r:id="rId5">
                  <a:extLst>
                    <a:ext uri="{A12FA001-AC4F-418D-AE19-62706E023703}">
                      <ahyp:hlinkClr xmlns:ahyp="http://schemas.microsoft.com/office/drawing/2018/hyperlinkcolor" val="tx"/>
                    </a:ext>
                  </a:extLst>
                </a:hlinkClick>
              </a:rPr>
              <a:t>https://www.airistaflow.com/blog/rfid-asset-tracking-in-healthcare/</a:t>
            </a:r>
            <a:endParaRPr lang="en-US" sz="1600" dirty="0"/>
          </a:p>
          <a:p>
            <a:pPr marL="0" indent="0">
              <a:lnSpc>
                <a:spcPct val="100000"/>
              </a:lnSpc>
              <a:spcBef>
                <a:spcPts val="0"/>
              </a:spcBef>
              <a:buNone/>
            </a:pPr>
            <a:r>
              <a:rPr lang="en-US" sz="1600" dirty="0"/>
              <a:t>CPCON Group. (2026, March 10). RFID meaning: What is radio frequency identification and</a:t>
            </a:r>
          </a:p>
          <a:p>
            <a:pPr marL="304746" lvl="1" indent="0">
              <a:lnSpc>
                <a:spcPct val="100000"/>
              </a:lnSpc>
              <a:spcBef>
                <a:spcPts val="0"/>
              </a:spcBef>
              <a:spcAft>
                <a:spcPts val="600"/>
              </a:spcAft>
              <a:buNone/>
            </a:pPr>
            <a:r>
              <a:rPr lang="en-US" sz="1600" dirty="0"/>
              <a:t>how does it work? </a:t>
            </a:r>
            <a:r>
              <a:rPr lang="en-US" sz="1600" dirty="0">
                <a:solidFill>
                  <a:srgbClr val="00B0F0"/>
                </a:solidFill>
                <a:hlinkClick r:id="rId6">
                  <a:extLst>
                    <a:ext uri="{A12FA001-AC4F-418D-AE19-62706E023703}">
                      <ahyp:hlinkClr xmlns:ahyp="http://schemas.microsoft.com/office/drawing/2018/hyperlinkcolor" val="tx"/>
                    </a:ext>
                  </a:extLst>
                </a:hlinkClick>
              </a:rPr>
              <a:t>https://cpcongroup.com/insights/article/rfid-what-it-is-how-it-works/</a:t>
            </a:r>
            <a:endParaRPr lang="en-US" sz="1600" dirty="0">
              <a:solidFill>
                <a:srgbClr val="00B0F0"/>
              </a:solidFill>
            </a:endParaRPr>
          </a:p>
          <a:p>
            <a:pPr marL="0" indent="0">
              <a:lnSpc>
                <a:spcPct val="100000"/>
              </a:lnSpc>
              <a:spcBef>
                <a:spcPts val="0"/>
              </a:spcBef>
              <a:buNone/>
            </a:pPr>
            <a:r>
              <a:rPr lang="en-US" sz="1600" dirty="0"/>
              <a:t>Halstead, J. (2020, November 20). A breakdown of 7 RFID costs, from hardware to implementation.</a:t>
            </a:r>
          </a:p>
          <a:p>
            <a:pPr marL="304746" lvl="1" indent="0">
              <a:lnSpc>
                <a:spcPct val="100000"/>
              </a:lnSpc>
              <a:spcBef>
                <a:spcPts val="0"/>
              </a:spcBef>
              <a:spcAft>
                <a:spcPts val="600"/>
              </a:spcAft>
              <a:buNone/>
            </a:pPr>
            <a:r>
              <a:rPr lang="en-US" sz="1600" dirty="0"/>
              <a:t>Link Labs. </a:t>
            </a:r>
            <a:r>
              <a:rPr lang="en-US" sz="1600" dirty="0">
                <a:solidFill>
                  <a:srgbClr val="00B0F0"/>
                </a:solidFill>
                <a:hlinkClick r:id="rId7">
                  <a:extLst>
                    <a:ext uri="{A12FA001-AC4F-418D-AE19-62706E023703}">
                      <ahyp:hlinkClr xmlns:ahyp="http://schemas.microsoft.com/office/drawing/2018/hyperlinkcolor" val="tx"/>
                    </a:ext>
                  </a:extLst>
                </a:hlinkClick>
              </a:rPr>
              <a:t>https://www.link-labs.com/blog/rfid-cost</a:t>
            </a:r>
            <a:endParaRPr lang="en-US" sz="1600" dirty="0">
              <a:solidFill>
                <a:srgbClr val="00B0F0"/>
              </a:solidFill>
            </a:endParaRPr>
          </a:p>
          <a:p>
            <a:pPr marL="0" indent="0">
              <a:lnSpc>
                <a:spcPct val="100000"/>
              </a:lnSpc>
              <a:spcBef>
                <a:spcPts val="0"/>
              </a:spcBef>
              <a:buNone/>
            </a:pPr>
            <a:r>
              <a:rPr lang="en-US" sz="1600" dirty="0"/>
              <a:t>Jina, D. (2024, February 21). Healthcare RTLS design: Asset tracking, patient flow &amp;</a:t>
            </a:r>
          </a:p>
          <a:p>
            <a:pPr marL="304746" lvl="1" indent="0">
              <a:lnSpc>
                <a:spcPct val="100000"/>
              </a:lnSpc>
              <a:spcBef>
                <a:spcPts val="0"/>
              </a:spcBef>
              <a:spcAft>
                <a:spcPts val="600"/>
              </a:spcAft>
              <a:buNone/>
            </a:pPr>
            <a:r>
              <a:rPr lang="en-US" sz="1600" dirty="0"/>
              <a:t>hospital </a:t>
            </a:r>
            <a:r>
              <a:rPr lang="en-US" sz="1600" dirty="0" err="1"/>
              <a:t>WiFi</a:t>
            </a:r>
            <a:r>
              <a:rPr lang="en-US" sz="1600" dirty="0"/>
              <a:t>. Purple. </a:t>
            </a:r>
            <a:r>
              <a:rPr lang="en-US" sz="1600" dirty="0">
                <a:solidFill>
                  <a:srgbClr val="00B0F0"/>
                </a:solidFill>
                <a:hlinkClick r:id="rId8">
                  <a:extLst>
                    <a:ext uri="{A12FA001-AC4F-418D-AE19-62706E023703}">
                      <ahyp:hlinkClr xmlns:ahyp="http://schemas.microsoft.com/office/drawing/2018/hyperlinkcolor" val="tx"/>
                    </a:ext>
                  </a:extLst>
                </a:hlinkClick>
              </a:rPr>
              <a:t>https://www.purple.ai/en-us/blogs/healthcare-rtls-101</a:t>
            </a:r>
            <a:endParaRPr lang="en-US" sz="1600" dirty="0">
              <a:solidFill>
                <a:srgbClr val="00B0F0"/>
              </a:solidFill>
            </a:endParaRPr>
          </a:p>
          <a:p>
            <a:pPr marL="0" indent="0">
              <a:lnSpc>
                <a:spcPct val="100000"/>
              </a:lnSpc>
              <a:spcBef>
                <a:spcPts val="0"/>
              </a:spcBef>
              <a:buNone/>
            </a:pPr>
            <a:r>
              <a:rPr lang="en-US" sz="1600" dirty="0"/>
              <a:t>Margarita, V. (2026, January 20). Healthcare RTLS: A comprehensive guide to real-time location</a:t>
            </a:r>
          </a:p>
          <a:p>
            <a:pPr marL="304746" lvl="1" indent="0">
              <a:lnSpc>
                <a:spcPct val="100000"/>
              </a:lnSpc>
              <a:spcBef>
                <a:spcPts val="0"/>
              </a:spcBef>
              <a:buNone/>
            </a:pPr>
            <a:r>
              <a:rPr lang="en-US" sz="1600" dirty="0"/>
              <a:t>systems in hospitals. </a:t>
            </a:r>
            <a:r>
              <a:rPr lang="en-US" sz="1600" dirty="0" err="1"/>
              <a:t>Navigine</a:t>
            </a:r>
            <a:r>
              <a:rPr lang="en-US" sz="1600" dirty="0"/>
              <a:t>.</a:t>
            </a:r>
          </a:p>
          <a:p>
            <a:pPr marL="304746" lvl="1" indent="0">
              <a:lnSpc>
                <a:spcPct val="100000"/>
              </a:lnSpc>
              <a:spcBef>
                <a:spcPts val="0"/>
              </a:spcBef>
              <a:spcAft>
                <a:spcPts val="600"/>
              </a:spcAft>
              <a:buNone/>
            </a:pPr>
            <a:r>
              <a:rPr lang="en-US" sz="1600" dirty="0">
                <a:solidFill>
                  <a:srgbClr val="00B0F0"/>
                </a:solidFill>
              </a:rPr>
              <a:t>https://navigine.com/blog/using-real-time-location-system-in-healthcare/</a:t>
            </a:r>
          </a:p>
          <a:p>
            <a:pPr marL="0" indent="0">
              <a:lnSpc>
                <a:spcPct val="100000"/>
              </a:lnSpc>
              <a:spcBef>
                <a:spcPts val="0"/>
              </a:spcBef>
              <a:buNone/>
            </a:pPr>
            <a:r>
              <a:rPr lang="en-US" sz="1600" dirty="0" err="1"/>
              <a:t>Qtait</a:t>
            </a:r>
            <a:r>
              <a:rPr lang="en-US" sz="1600" dirty="0"/>
              <a:t>, M. (2025, March 31). Time Wasters Facing Nurses During Work in Hospital Departments.</a:t>
            </a:r>
          </a:p>
          <a:p>
            <a:pPr marL="304746" lvl="1" indent="0">
              <a:lnSpc>
                <a:spcPct val="100000"/>
              </a:lnSpc>
              <a:spcBef>
                <a:spcPts val="0"/>
              </a:spcBef>
              <a:buNone/>
            </a:pPr>
            <a:r>
              <a:rPr lang="en-US" sz="1600" dirty="0"/>
              <a:t>Sage Journals. </a:t>
            </a:r>
            <a:r>
              <a:rPr lang="en-US" sz="1600" dirty="0">
                <a:solidFill>
                  <a:srgbClr val="00B0F0"/>
                </a:solidFill>
                <a:hlinkClick r:id="rId9">
                  <a:extLst>
                    <a:ext uri="{A12FA001-AC4F-418D-AE19-62706E023703}">
                      <ahyp:hlinkClr xmlns:ahyp="http://schemas.microsoft.com/office/drawing/2018/hyperlinkcolor" val="tx"/>
                    </a:ext>
                  </a:extLst>
                </a:hlinkClick>
              </a:rPr>
              <a:t>https://journals.sagepub.com/doi/full/10.1177/23779608251328278</a:t>
            </a:r>
            <a:endParaRPr lang="en-US" sz="1600" dirty="0">
              <a:solidFill>
                <a:srgbClr val="00B0F0"/>
              </a:solidFill>
            </a:endParaRPr>
          </a:p>
        </p:txBody>
      </p:sp>
      <p:sp>
        <p:nvSpPr>
          <p:cNvPr id="3" name="Title 2">
            <a:extLst>
              <a:ext uri="{FF2B5EF4-FFF2-40B4-BE49-F238E27FC236}">
                <a16:creationId xmlns:a16="http://schemas.microsoft.com/office/drawing/2014/main" id="{4F610588-3D2F-0394-BEE2-A8A294B539F5}"/>
              </a:ext>
            </a:extLst>
          </p:cNvPr>
          <p:cNvSpPr txBox="1">
            <a:spLocks/>
          </p:cNvSpPr>
          <p:nvPr/>
        </p:nvSpPr>
        <p:spPr>
          <a:xfrm>
            <a:off x="924561" y="106680"/>
            <a:ext cx="10363200" cy="935038"/>
          </a:xfrm>
          <a:prstGeom prst="rect">
            <a:avLst/>
          </a:prstGeom>
        </p:spPr>
        <p:txBody>
          <a:bodyPr vert="horz" lIns="121899" tIns="60949" rIns="121899" bIns="60949" rtlCol="0" anchor="b">
            <a:normAutofit/>
          </a:bodyPr>
          <a:lst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a:lstStyle>
          <a:p>
            <a:pPr>
              <a:spcAft>
                <a:spcPts val="600"/>
              </a:spcAft>
            </a:pPr>
            <a:r>
              <a:rPr lang="en-US" b="1" dirty="0"/>
              <a:t>References</a:t>
            </a:r>
          </a:p>
        </p:txBody>
      </p:sp>
      <p:sp>
        <p:nvSpPr>
          <p:cNvPr id="6" name="Rectangle 5">
            <a:extLst>
              <a:ext uri="{FF2B5EF4-FFF2-40B4-BE49-F238E27FC236}">
                <a16:creationId xmlns:a16="http://schemas.microsoft.com/office/drawing/2014/main" id="{B5EB05E5-EE18-488B-0B8E-D34A70E18289}"/>
              </a:ext>
            </a:extLst>
          </p:cNvPr>
          <p:cNvSpPr/>
          <p:nvPr/>
        </p:nvSpPr>
        <p:spPr>
          <a:xfrm>
            <a:off x="1066800" y="1041718"/>
            <a:ext cx="10221684" cy="914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00B0F0"/>
              </a:solidFill>
            </a:endParaRPr>
          </a:p>
        </p:txBody>
      </p:sp>
      <p:pic>
        <p:nvPicPr>
          <p:cNvPr id="2" name="Slide 27">
            <a:hlinkClick r:id="" action="ppaction://media"/>
            <a:extLst>
              <a:ext uri="{FF2B5EF4-FFF2-40B4-BE49-F238E27FC236}">
                <a16:creationId xmlns:a16="http://schemas.microsoft.com/office/drawing/2014/main" id="{847FC443-187C-4D63-460B-032388EC11B1}"/>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643677" y="137160"/>
            <a:ext cx="487363" cy="487363"/>
          </a:xfrm>
          <a:prstGeom prst="rect">
            <a:avLst/>
          </a:prstGeom>
        </p:spPr>
      </p:pic>
    </p:spTree>
    <p:extLst>
      <p:ext uri="{BB962C8B-B14F-4D97-AF65-F5344CB8AC3E}">
        <p14:creationId xmlns:p14="http://schemas.microsoft.com/office/powerpoint/2010/main" val="2644746980"/>
      </p:ext>
    </p:extLst>
  </p:cSld>
  <p:clrMapOvr>
    <a:masterClrMapping/>
  </p:clrMapOvr>
  <mc:AlternateContent xmlns:mc="http://schemas.openxmlformats.org/markup-compatibility/2006" xmlns:p14="http://schemas.microsoft.com/office/powerpoint/2010/main">
    <mc:Choice Requires="p14">
      <p:transition spd="med" p14:dur="700" advTm="21848">
        <p:fade/>
      </p:transition>
    </mc:Choice>
    <mc:Fallback xmlns="">
      <p:transition spd="med" advTm="2184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84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FF29DAF2B2474CAA0976D75413A80B" ma:contentTypeVersion="20" ma:contentTypeDescription="Create a new document." ma:contentTypeScope="" ma:versionID="1bc55e9eb1e1cc66f2eb1c33e6b9be96">
  <xsd:schema xmlns:xsd="http://www.w3.org/2001/XMLSchema" xmlns:xs="http://www.w3.org/2001/XMLSchema" xmlns:p="http://schemas.microsoft.com/office/2006/metadata/properties" xmlns:ns1="http://schemas.microsoft.com/sharepoint/v3" xmlns:ns3="f681fcbd-d5a2-4336-a092-82e7af704741" xmlns:ns4="c9140fa4-d231-4bf2-8e30-bda3cfa5fa06" targetNamespace="http://schemas.microsoft.com/office/2006/metadata/properties" ma:root="true" ma:fieldsID="47d93689c161693b0321a7ae4ce647b7" ns1:_="" ns3:_="" ns4:_="">
    <xsd:import namespace="http://schemas.microsoft.com/sharepoint/v3"/>
    <xsd:import namespace="f681fcbd-d5a2-4336-a092-82e7af704741"/>
    <xsd:import namespace="c9140fa4-d231-4bf2-8e30-bda3cfa5fa06"/>
    <xsd:element name="properties">
      <xsd:complexType>
        <xsd:sequence>
          <xsd:element name="documentManagement">
            <xsd:complexType>
              <xsd:all>
                <xsd:element ref="ns3:MigrationWizId" minOccurs="0"/>
                <xsd:element ref="ns3:MigrationWizIdPermissions" minOccurs="0"/>
                <xsd:element ref="ns3:MigrationWizIdPermissionLevels" minOccurs="0"/>
                <xsd:element ref="ns3:MigrationWizIdDocumentLibraryPermissions" minOccurs="0"/>
                <xsd:element ref="ns3:MigrationWizIdSecurityGroups" minOccurs="0"/>
                <xsd:element ref="ns4:SharedWithUsers" minOccurs="0"/>
                <xsd:element ref="ns4:SharedWithDetails" minOccurs="0"/>
                <xsd:element ref="ns4:SharingHintHash" minOccurs="0"/>
                <xsd:element ref="ns3:MediaServiceMetadata" minOccurs="0"/>
                <xsd:element ref="ns3:MediaServiceFastMetadata" minOccurs="0"/>
                <xsd:element ref="ns3:MediaServiceAutoTags" minOccurs="0"/>
                <xsd:element ref="ns3:MediaServiceOCR" minOccurs="0"/>
                <xsd:element ref="ns3:MediaServiceDateTaken" minOccurs="0"/>
                <xsd:element ref="ns1:_ip_UnifiedCompliancePolicyProperties" minOccurs="0"/>
                <xsd:element ref="ns1:_ip_UnifiedCompliancePolicyUIAction" minOccurs="0"/>
                <xsd:element ref="ns3:MediaServiceGenerationTime" minOccurs="0"/>
                <xsd:element ref="ns3:MediaServiceEventHashCode" minOccurs="0"/>
                <xsd:element ref="ns3:MediaServiceAutoKeyPoints" minOccurs="0"/>
                <xsd:element ref="ns3:MediaServiceKeyPoint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81fcbd-d5a2-4336-a092-82e7af704741"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AutoKeyPoints" ma:index="25" nillable="true" ma:displayName="MediaServiceAutoKeyPoints" ma:hidden="true" ma:internalName="MediaServiceAutoKeyPoints" ma:readOnly="true">
      <xsd:simpleType>
        <xsd:restriction base="dms:Note"/>
      </xsd:simpleType>
    </xsd:element>
    <xsd:element name="MediaServiceKeyPoints" ma:index="26" nillable="true" ma:displayName="KeyPoints" ma:internalName="MediaServiceKeyPoints" ma:readOnly="true">
      <xsd:simpleType>
        <xsd:restriction base="dms:Note">
          <xsd:maxLength value="255"/>
        </xsd:restriction>
      </xsd:simpleType>
    </xsd:element>
    <xsd:element name="MediaServiceLocation" ma:index="2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9140fa4-d231-4bf2-8e30-bda3cfa5fa06"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igrationWizIdPermissions xmlns="f681fcbd-d5a2-4336-a092-82e7af704741" xsi:nil="true"/>
    <_ip_UnifiedCompliancePolicyUIAction xmlns="http://schemas.microsoft.com/sharepoint/v3" xsi:nil="true"/>
    <MigrationWizIdDocumentLibraryPermissions xmlns="f681fcbd-d5a2-4336-a092-82e7af704741" xsi:nil="true"/>
    <MigrationWizIdPermissionLevels xmlns="f681fcbd-d5a2-4336-a092-82e7af704741" xsi:nil="true"/>
    <MigrationWizId xmlns="f681fcbd-d5a2-4336-a092-82e7af704741" xsi:nil="true"/>
    <_ip_UnifiedCompliancePolicyProperties xmlns="http://schemas.microsoft.com/sharepoint/v3" xsi:nil="true"/>
    <MigrationWizIdSecurityGroups xmlns="f681fcbd-d5a2-4336-a092-82e7af70474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22ABCA-037E-44D8-B854-A49E34A62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681fcbd-d5a2-4336-a092-82e7af704741"/>
    <ds:schemaRef ds:uri="c9140fa4-d231-4bf2-8e30-bda3cfa5f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976A89-D2B8-4205-B352-FBC5A90D146E}">
  <ds:schemaRefs>
    <ds:schemaRef ds:uri="http://purl.org/dc/terms/"/>
    <ds:schemaRef ds:uri="http://www.w3.org/XML/1998/namespace"/>
    <ds:schemaRef ds:uri="http://schemas.microsoft.com/office/2006/documentManagement/types"/>
    <ds:schemaRef ds:uri="http://schemas.microsoft.com/office/infopath/2007/PartnerControls"/>
    <ds:schemaRef ds:uri="http://purl.org/dc/dcmitype/"/>
    <ds:schemaRef ds:uri="http://purl.org/dc/elements/1.1/"/>
    <ds:schemaRef ds:uri="f681fcbd-d5a2-4336-a092-82e7af704741"/>
    <ds:schemaRef ds:uri="c9140fa4-d231-4bf2-8e30-bda3cfa5fa06"/>
    <ds:schemaRef ds:uri="http://schemas.openxmlformats.org/package/2006/metadata/core-properties"/>
    <ds:schemaRef ds:uri="http://schemas.microsoft.com/sharepoint/v3"/>
    <ds:schemaRef ds:uri="http://schemas.microsoft.com/office/2006/metadata/properties"/>
  </ds:schemaRefs>
</ds:datastoreItem>
</file>

<file path=customXml/itemProps3.xml><?xml version="1.0" encoding="utf-8"?>
<ds:datastoreItem xmlns:ds="http://schemas.openxmlformats.org/officeDocument/2006/customXml" ds:itemID="{5A747DFE-EDB3-4B03-B768-DE23C1504B0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24493</TotalTime>
  <Words>2956</Words>
  <Application>Microsoft Office PowerPoint</Application>
  <PresentationFormat>Widescreen</PresentationFormat>
  <Paragraphs>244</Paragraphs>
  <Slides>27</Slides>
  <Notes>0</Notes>
  <HiddenSlides>0</HiddenSlides>
  <MMClips>27</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Tech 16x9</vt:lpstr>
      <vt:lpstr>Real-Time Medical Asset Tracking System</vt:lpstr>
      <vt:lpstr>PowerPoint Presentation</vt:lpstr>
      <vt:lpstr>PowerPoint Presentation</vt:lpstr>
      <vt:lpstr>Organization Profile and Problem Statement</vt:lpstr>
      <vt:lpstr>The Organization</vt:lpstr>
      <vt:lpstr>PowerPoint Presentation</vt:lpstr>
      <vt:lpstr>PowerPoint Presentation</vt:lpstr>
      <vt:lpstr>PowerPoint Presentation</vt:lpstr>
      <vt:lpstr>Technology Selection and Design</vt:lpstr>
      <vt:lpstr>PowerPoint Presentation</vt:lpstr>
      <vt:lpstr>PowerPoint Presentation</vt:lpstr>
      <vt:lpstr>PowerPoint Presentation</vt:lpstr>
      <vt:lpstr>PowerPoint Presentation</vt:lpstr>
      <vt:lpstr>PowerPoint Presentation</vt:lpstr>
      <vt:lpstr>Implementation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TECH460 Module 2</dc:title>
  <dc:creator>Walker, Russ</dc:creator>
  <cp:lastModifiedBy>Acosta, Francisco</cp:lastModifiedBy>
  <cp:revision>1047</cp:revision>
  <dcterms:created xsi:type="dcterms:W3CDTF">2020-12-10T16:23:50Z</dcterms:created>
  <dcterms:modified xsi:type="dcterms:W3CDTF">2026-10-11T14:53:51Z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0x01010007FF29DAF2B2474CAA0976D75413A80B</vt:lpwstr>
  </property>
</Properties>
</file>